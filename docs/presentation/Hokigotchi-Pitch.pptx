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685211728447e3" /><Relationship Type="http://schemas.openxmlformats.org/officeDocument/2006/relationships/extended-properties" Target="/docProps/app.xml" Id="R8865a5a946774752" /><Relationship Type="http://schemas.openxmlformats.org/officeDocument/2006/relationships/officeDocument" Target="/ppt/presentation.xml" Id="Ra4d11c53650540a1" /></Relationships>
</file>

<file path=ppt/presentation.xml><?xml version="1.0" encoding="utf-8"?>
<p:presentation xmlns:p="http://schemas.openxmlformats.org/presentationml/2006/main">
  <p:sldMasterIdLst>
    <p:sldMasterId xmlns:r="http://schemas.openxmlformats.org/officeDocument/2006/relationships" id="2147483648" r:id="R13d18e2babeb45d7"/>
  </p:sldMasterIdLst>
  <p:notesMasterIdLst>
    <p:notesMasterId xmlns:r="http://schemas.openxmlformats.org/officeDocument/2006/relationships" r:id="R031d03e88b224923"/>
  </p:notesMasterIdLst>
  <p:sldIdLst>
    <p:sldId xmlns:r="http://schemas.openxmlformats.org/officeDocument/2006/relationships" id="256" r:id="R6cfe5414222a46d0"/>
    <p:sldId xmlns:r="http://schemas.openxmlformats.org/officeDocument/2006/relationships" id="257" r:id="R245f36f4bc3d4285"/>
    <p:sldId xmlns:r="http://schemas.openxmlformats.org/officeDocument/2006/relationships" id="258" r:id="R0cf580d0dee8465b"/>
    <p:sldId xmlns:r="http://schemas.openxmlformats.org/officeDocument/2006/relationships" id="259" r:id="R0112f663d0f14b0f"/>
    <p:sldId xmlns:r="http://schemas.openxmlformats.org/officeDocument/2006/relationships" id="260" r:id="Re581ef3ba7b2472b"/>
    <p:sldId xmlns:r="http://schemas.openxmlformats.org/officeDocument/2006/relationships" id="261" r:id="R29e92872a7e04238"/>
    <p:sldId xmlns:r="http://schemas.openxmlformats.org/officeDocument/2006/relationships" id="262" r:id="Rcef9ee81d3e545fa"/>
    <p:sldId xmlns:r="http://schemas.openxmlformats.org/officeDocument/2006/relationships" id="263" r:id="R7caf99520ec843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77f83b9e774ac5" /><Relationship Type="http://schemas.openxmlformats.org/officeDocument/2006/relationships/slideMaster" Target="/ppt/slideMasters/slideMaster1.xml" Id="R13d18e2babeb45d7" /><Relationship Type="http://schemas.openxmlformats.org/officeDocument/2006/relationships/notesMaster" Target="/ppt/notesMasters/notesMaster1.xml" Id="R031d03e88b224923" /><Relationship Type="http://schemas.openxmlformats.org/officeDocument/2006/relationships/presProps" Target="/ppt/presProps.xml" Id="R5979ca7c46b8458d" /><Relationship Type="http://schemas.openxmlformats.org/officeDocument/2006/relationships/tableStyles" Target="/ppt/tableStyles.xml" Id="R17c926e051344086" /><Relationship Type="http://schemas.openxmlformats.org/officeDocument/2006/relationships/slide" Target="/ppt/slides/slide1.xml" Id="R6cfe5414222a46d0" /><Relationship Type="http://schemas.openxmlformats.org/officeDocument/2006/relationships/slide" Target="/ppt/slides/slide2.xml" Id="R245f36f4bc3d4285" /><Relationship Type="http://schemas.openxmlformats.org/officeDocument/2006/relationships/slide" Target="/ppt/slides/slide3.xml" Id="R0cf580d0dee8465b" /><Relationship Type="http://schemas.openxmlformats.org/officeDocument/2006/relationships/slide" Target="/ppt/slides/slide4.xml" Id="R0112f663d0f14b0f" /><Relationship Type="http://schemas.openxmlformats.org/officeDocument/2006/relationships/slide" Target="/ppt/slides/slide5.xml" Id="Re581ef3ba7b2472b" /><Relationship Type="http://schemas.openxmlformats.org/officeDocument/2006/relationships/slide" Target="/ppt/slides/slide6.xml" Id="R29e92872a7e04238" /><Relationship Type="http://schemas.openxmlformats.org/officeDocument/2006/relationships/slide" Target="/ppt/slides/slide7.xml" Id="Rcef9ee81d3e545fa" /><Relationship Type="http://schemas.openxmlformats.org/officeDocument/2006/relationships/slide" Target="/ppt/slides/slide8.xml" Id="R7caf99520ec843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7774202c424c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6eda4eb571481b" /><Relationship Type="http://schemas.openxmlformats.org/officeDocument/2006/relationships/notesMaster" Target="/ppt/notesMasters/notesMaster1.xml" Id="R899ccf4ec86a40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9fd5c264d144cf" /><Relationship Type="http://schemas.openxmlformats.org/officeDocument/2006/relationships/notesMaster" Target="/ppt/notesMasters/notesMaster1.xml" Id="Raca7021d5ae249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e5d02ec1da4bcb" /><Relationship Type="http://schemas.openxmlformats.org/officeDocument/2006/relationships/notesMaster" Target="/ppt/notesMasters/notesMaster1.xml" Id="Rdc8793da2aa440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adc2ddcf754ec5" /><Relationship Type="http://schemas.openxmlformats.org/officeDocument/2006/relationships/notesMaster" Target="/ppt/notesMasters/notesMaster1.xml" Id="R9936076fd0ba42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01f40f733e4b72" /><Relationship Type="http://schemas.openxmlformats.org/officeDocument/2006/relationships/notesMaster" Target="/ppt/notesMasters/notesMaster1.xml" Id="Rc0684b47a32648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7d0e3d655e4f3c" /><Relationship Type="http://schemas.openxmlformats.org/officeDocument/2006/relationships/notesMaster" Target="/ppt/notesMasters/notesMaster1.xml" Id="R02c8100105de4d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51acb8026a4ed2" /><Relationship Type="http://schemas.openxmlformats.org/officeDocument/2006/relationships/notesMaster" Target="/ppt/notesMasters/notesMaster1.xml" Id="Re9ff7d159a7848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79cdeee32e4d4a" /><Relationship Type="http://schemas.openxmlformats.org/officeDocument/2006/relationships/notesMaster" Target="/ppt/notesMasters/notesMaster1.xml" Id="R9b0a63c44d2240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Introduce Hokigotchi as a financial practice game for student life. Say: “We turn everyday money habits into progress you can see in a little companion.” The maroon and orange graphics and Hoki mascot come from the project assets. This is a student prototype, not an official university or bank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“Here is our illustrative student budget. $1,450 comes in, $1,240 goes out, leaving $210 a month. The plan works until a laptop breaks. The hard question is what each response does to the goal.” These are scenario assumptions, not population statistics. Source: web/src/app/chaos/engine.ts, DEMO and RESPONSES. Original $700 goal takes four months at $210 a 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0:50–1:30. Show an expense or weekly budget action in the app if it is already open and rehearsed. “Login alone does not earn points. Useful actions do: logging an expense, setting a weekly plan, and crossing a new savings milestone. Those actions grow your Hoki, unlock checkpoints, and earn in-game tokens.” Expense XP is capped at three rewarded entries per day; weekly planning earns once per week; each goal milestone earns once, with starting savings excluded. Source: web/src/lib/fork-game.ts. Hoki evolves at 0, 10, 150, and 350 XP. Assets: existing Hoki-evolution.png.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1:30–3:00. Switch to localhost:3000/chaos, or the offline HTML if needed. Begin at the ready state and click UNLEASH CHAOS. Ask the judge which response to choose. Show the new goal date, reserve and Hoki reaction, then compare a second response. “The council explains the safety, goal, everyday-life and bills tradeoffs using these calculations.” This prototype uses preset scenario prices and rule-based council explanations; there is no live AI call. Repair assumes a diagnosis confirms the repair works. The +100 practice XP never updates the main game or shared leaderboard. Source: web/src/app/chaos/chaos-demo.tsx and engine.ts. Screenshot captured from the running offline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3:00–3:30. “The original $700 goal takes four months. Buying new shifts it to seven. Refurbished brings it to five, recovering two months compared with buying new. A successful repair keeps the original four-month timeline.” Source: web/src/app/chaos/engine.ts; deterministic simulate(DEMO,cost) with costs 0,850,430,180. Setup: checking1640, reserve920, reserve target800, income1450, expenses1240, goal700, initially0 assigned. Surprise costs draw savings first. Surplus restores reserve before funding goal. No interest, fees, or actual payments. Chart uses native editable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3:30–4:00. “Next.js runs the interface and API. Nessie supplies simulated account balances in practice mode. Supabase supports email-code sign-in, private cloud saves and opted-in rankings. The server calculates cloud rewards and prevents a retried request from awarding points twice.” Source: web/src/app/api/cloud/[resource]/route.ts; web/src/lib/cloud-server.ts, cloud-service.ts, cloud-rules.ts; web/supabase/migrations/202609200001_hokigotchi.sql. Users self-report expenses and savings. Cloud players do not yet connect individual bank accounts. The user confirmed local authentication and live cloud checks. This slide does not claim an independently audited or production-ready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4:00–4:35. “Today the prototype connects budgeting habits to a growing companion, includes saved accounts and a weekly league, and lets students practice a surprise expense. Next we would connect more transaction activity, expand scenarios, and work with partners on funded rewards.” Coupons, cashback and cash rewards currently remain catalog previews. No partner deals or measurable financial outcomes are claimed. Individual bank connections and live AI explanation are future work. Source: existing app code, README and the product brief provided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4:35–5:00. “We want students to build confidence through small, repeatable habits and practice the surprises before they happen. Hokigotchi: little Hokie, big future.” End on the product and pause for questions. If asked about research or results, say this is a prototype and a student pilot is the next step; no measured savings outcome or partner commitment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2a2bf63a534d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01391d6d06457b" /><Relationship Type="http://schemas.openxmlformats.org/officeDocument/2006/relationships/slideLayout" Target="/ppt/slideLayouts/slideLayout1.xml" Id="Raa7ce87f17ed40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7ce87f17ed40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3959952af84363" /><Relationship Type="http://schemas.openxmlformats.org/officeDocument/2006/relationships/image" Target="/ppt/media/image.png" Id="Rbff0d4d9b6d54e07" /><Relationship Type="http://schemas.openxmlformats.org/officeDocument/2006/relationships/notesSlide" Target="/ppt/notesSlides/notesSlide1.xml" Id="Rfda6ca834d5b44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d1f94537614ff8" /><Relationship Type="http://schemas.openxmlformats.org/officeDocument/2006/relationships/notesSlide" Target="/ppt/notesSlides/notesSlide2.xml" Id="R2c0deaf26e7f4a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edd87237b643ae" /><Relationship Type="http://schemas.openxmlformats.org/officeDocument/2006/relationships/image" Target="/ppt/media/image2.png" Id="R79d00fa832ef49ac" /><Relationship Type="http://schemas.openxmlformats.org/officeDocument/2006/relationships/notesSlide" Target="/ppt/notesSlides/notesSlide3.xml" Id="R3b4085122dc743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1642fea0c24e75" /><Relationship Type="http://schemas.openxmlformats.org/officeDocument/2006/relationships/image" Target="/ppt/media/image3.png" Id="R7b97733a08c34542" /><Relationship Type="http://schemas.openxmlformats.org/officeDocument/2006/relationships/notesSlide" Target="/ppt/notesSlides/notesSlide4.xml" Id="R7aa46dcdd6d24a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08cca4628c45ee" /><Relationship Type="http://schemas.openxmlformats.org/officeDocument/2006/relationships/chart" Target="/ppt/slides/charts/chart1.xml" Id="R6a32c37786e14f40" /><Relationship Type="http://schemas.openxmlformats.org/officeDocument/2006/relationships/notesSlide" Target="/ppt/notesSlides/notesSlide5.xml" Id="R143cf0d709454d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79137d62b04b4b" /><Relationship Type="http://schemas.openxmlformats.org/officeDocument/2006/relationships/notesSlide" Target="/ppt/notesSlides/notesSlide6.xml" Id="R57e839d8e4974c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6527b2ca084d99" /><Relationship Type="http://schemas.openxmlformats.org/officeDocument/2006/relationships/notesSlide" Target="/ppt/notesSlides/notesSlide7.xml" Id="R5256637dfa7048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d8e148ad124a69" /><Relationship Type="http://schemas.openxmlformats.org/officeDocument/2006/relationships/image" Target="/ppt/media/image4.png" Id="Rf9a806a18d54428a" /><Relationship Type="http://schemas.openxmlformats.org/officeDocument/2006/relationships/notesSlide" Target="/ppt/notesSlides/notesSlide8.xml" Id="Rbcccbdad18ee4ab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Months to goal</c:v>
          </c:tx>
          <c:spPr>
            <a:solidFill xmlns:a="http://schemas.openxmlformats.org/drawingml/2006/main">
              <a:srgbClr val="861F41"/>
            </a:solidFill>
          </c:spPr>
          <c:dPt>
            <c:idx val="0"/>
            <c:invertIfNegative val="0"/>
            <c:spPr>
              <a:solidFill xmlns:a="http://schemas.openxmlformats.org/drawingml/2006/main">
                <a:srgbClr val="487968"/>
              </a:solidFill>
            </c:spPr>
          </c:dPt>
          <c:dPt>
            <c:idx val="1"/>
            <c:invertIfNegative val="0"/>
            <c:spPr>
              <a:solidFill xmlns:a="http://schemas.openxmlformats.org/drawingml/2006/main">
                <a:srgbClr val="B67882"/>
              </a:solidFill>
            </c:spPr>
          </c:dPt>
          <c:dPt>
            <c:idx val="2"/>
            <c:invertIfNegative val="0"/>
            <c:spPr>
              <a:solidFill xmlns:a="http://schemas.openxmlformats.org/drawingml/2006/main">
                <a:srgbClr val="861F41"/>
              </a:solidFill>
            </c:spPr>
          </c:dPt>
          <c:dPt>
            <c:idx val="3"/>
            <c:invertIfNegative val="0"/>
            <c:spPr>
              <a:solidFill xmlns:a="http://schemas.openxmlformats.org/drawingml/2006/main">
                <a:srgbClr val="E5751F"/>
              </a:solidFill>
            </c:spPr>
          </c:dPt>
          <c:cat>
            <c:strRef>
              <c:f>'Chart Data'!$A$2:$A$5</c:f>
              <c:strCache>
                <c:ptCount val="4"/>
                <c:pt idx="0">
                  <c:v>Original plan</c:v>
                </c:pt>
                <c:pt idx="1">
                  <c:v>Buy new</c:v>
                </c:pt>
                <c:pt idx="2">
                  <c:v>Refurbished</c:v>
                </c:pt>
                <c:pt idx="3">
                  <c:v>Repair</c:v>
                </c:pt>
              </c:strCache>
            </c:strRef>
          </c:cat>
          <c:val>
            <c:numRef>
              <c:f>'Chart Data'!$B$2:$B$5</c:f>
              <c:numCache>
                <c:formatCode>General</c:formatCode>
                <c:ptCount val="4"/>
                <c:pt idx="0">
                  <c:v>4</c:v>
                </c:pt>
                <c:pt idx="1">
                  <c:v>7</c:v>
                </c:pt>
                <c:pt idx="2">
                  <c:v>5</c:v>
                </c:pt>
                <c:pt idx="3">
                  <c:v>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861F41"/>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BFB4"/>
            </a:solidFill>
          </a:ln>
        </c:spPr>
        <c:txPr>
          <a:bodyPr xmlns:a="http://schemas.openxmlformats.org/drawingml/2006/main" anchorCtr="1"/>
          <a:lstStyle xmlns:a="http://schemas.openxmlformats.org/drawingml/2006/main"/>
          <a:p xmlns:a="http://schemas.openxmlformats.org/drawingml/2006/main">
            <a:pPr>
              <a:defRPr sz="1425">
                <a:solidFill>
                  <a:srgbClr val="351923"/>
                </a:solidFill>
                <a:latin typeface="DejaVu Sans"/>
                <a:ea typeface="DejaVu Sans"/>
                <a:cs typeface="DejaVu Sans"/>
              </a:defRPr>
            </a:pPr>
          </a:p>
        </c:txPr>
        <c:crossAx val="48672768"/>
      </c:catAx>
      <c:valAx>
        <c:axId val="48672768"/>
        <c:scaling>
          <c:orientation val="minMax"/>
          <c:max val="8"/>
          <c:min val="0"/>
        </c:scaling>
        <c:delete val="0"/>
        <c:axPos val="l"/>
        <c:majorGridlines>
          <c:spPr>
            <a:ln xmlns:a="http://schemas.openxmlformats.org/drawingml/2006/main" w="9525">
              <a:solidFill>
                <a:srgbClr val="DDCFC4"/>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79656C"/>
                </a:solidFill>
                <a:latin typeface="DejaVu Sans"/>
                <a:ea typeface="DejaVu Sans"/>
                <a:cs typeface="DejaVu Sans"/>
              </a:defRPr>
            </a:pPr>
          </a:p>
        </c:txPr>
        <c:crossAx val="48650112"/>
        <c:crossBetween val="between"/>
        <c:majorUnit val="2"/>
      </c:valAx>
      <c:spPr>
        <a:solidFill xmlns:a="http://schemas.openxmlformats.org/drawingml/2006/main">
          <a:srgbClr val="F7F2E9"/>
        </a:solidFill>
      </c:spPr>
    </c:plotArea>
    <c:plotVisOnly val="1"/>
  </c:chart>
  <c:spPr>
    <a:solidFill xmlns:a="http://schemas.openxmlformats.org/drawingml/2006/main">
      <a:srgbClr val="F7F2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861F4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F61239-B63C-483B-8E84-C91885B86E07}"/>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D7AC"/>
                </a:solidFill>
                <a:latin typeface="DejaVu Sans Mono"/>
                <a:ea typeface="DejaVu Sans Mono"/>
                <a:cs typeface="DejaVu Sans Mono"/>
              </a:defRPr>
            </a:pPr>
            <a:r>
              <a:rPr sz="1050" b="0">
                <a:solidFill>
                  <a:srgbClr val="FFD7AC"/>
                </a:solidFill>
                <a:latin typeface="DejaVu Sans Mono"/>
                <a:ea typeface="DejaVu Sans Mono"/>
                <a:cs typeface="DejaVu Sans Mono"/>
              </a:rPr>
              <a:t>HOKIGOTCHI   /   01</a:t>
            </a:r>
          </a:p>
        </p:txBody>
      </p:sp>
      <p:sp>
        <p:nvSpPr>
          <p:cNvPr id="2" name="">
            <a:extLst xmlns:a="http://schemas.openxmlformats.org/drawingml/2006/main">
              <a:ext uri="{FF2B5EF4-FFF2-40B4-BE49-F238E27FC236}">
                <a16:creationId xmlns:a16="http://schemas.microsoft.com/office/drawing/2014/main" id="{0B37FB31-0A3F-4EED-BAB8-5D646ECDFBE2}"/>
              </a:ext>
            </a:extLst>
          </p:cNvPr>
          <p:cNvSpPr>
            <a:spLocks xmlns:a="http://schemas.openxmlformats.org/drawingml/2006/main" noGrp="1"/>
          </p:cNvSpPr>
          <p:nvPr/>
        </p:nvSpPr>
        <p:spPr>
          <a:xfrm xmlns:a="http://schemas.openxmlformats.org/drawingml/2006/main">
            <a:off x="647700" y="1562100"/>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850" b="1">
                <a:solidFill>
                  <a:srgbClr val="FFFDF8"/>
                </a:solidFill>
                <a:latin typeface="DejaVu Sans Mono"/>
                <a:ea typeface="DejaVu Sans Mono"/>
                <a:cs typeface="DejaVu Sans Mono"/>
              </a:defRPr>
            </a:pPr>
            <a:r>
              <a:rPr sz="5850" b="1">
                <a:solidFill>
                  <a:srgbClr val="FFFDF8"/>
                </a:solidFill>
                <a:latin typeface="DejaVu Sans Mono"/>
                <a:ea typeface="DejaVu Sans Mono"/>
                <a:cs typeface="DejaVu Sans Mono"/>
              </a:rPr>
              <a:t>Hokigotchi</a:t>
            </a:r>
          </a:p>
        </p:txBody>
      </p:sp>
      <p:sp>
        <p:nvSpPr>
          <p:cNvPr id="3" name="">
            <a:extLst xmlns:a="http://schemas.openxmlformats.org/drawingml/2006/main">
              <a:ext uri="{FF2B5EF4-FFF2-40B4-BE49-F238E27FC236}">
                <a16:creationId xmlns:a16="http://schemas.microsoft.com/office/drawing/2014/main" id="{9CB74771-BDF5-4DA4-B90A-3F9852D87595}"/>
              </a:ext>
            </a:extLst>
          </p:cNvPr>
          <p:cNvSpPr>
            <a:spLocks xmlns:a="http://schemas.openxmlformats.org/drawingml/2006/main" noGrp="1"/>
          </p:cNvSpPr>
          <p:nvPr/>
        </p:nvSpPr>
        <p:spPr>
          <a:xfrm xmlns:a="http://schemas.openxmlformats.org/drawingml/2006/main">
            <a:off x="704850" y="2762250"/>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FFD7AC"/>
                </a:solidFill>
                <a:latin typeface="DejaVu Sans Mono"/>
                <a:ea typeface="DejaVu Sans Mono"/>
                <a:cs typeface="DejaVu Sans Mono"/>
              </a:defRPr>
            </a:pPr>
            <a:r>
              <a:rPr sz="4350" b="1">
                <a:solidFill>
                  <a:srgbClr val="FFD7AC"/>
                </a:solidFill>
                <a:latin typeface="DejaVu Sans Mono"/>
                <a:ea typeface="DejaVu Sans Mono"/>
                <a:cs typeface="DejaVu Sans Mono"/>
              </a:rPr>
              <a:t>Little Hokie.</a:t>
            </a:r>
          </a:p>
          <a:p xmlns:a="http://schemas.openxmlformats.org/drawingml/2006/main">
            <a:pPr>
              <a:defRPr sz="4350" b="1">
                <a:solidFill>
                  <a:srgbClr val="FFD7AC"/>
                </a:solidFill>
                <a:latin typeface="DejaVu Sans Mono"/>
                <a:ea typeface="DejaVu Sans Mono"/>
                <a:cs typeface="DejaVu Sans Mono"/>
              </a:defRPr>
            </a:pPr>
            <a:r>
              <a:rPr sz="4350" b="1">
                <a:solidFill>
                  <a:srgbClr val="FFD7AC"/>
                </a:solidFill>
                <a:latin typeface="DejaVu Sans Mono"/>
                <a:ea typeface="DejaVu Sans Mono"/>
                <a:cs typeface="DejaVu Sans Mono"/>
              </a:rPr>
              <a:t>Big future.</a:t>
            </a:r>
          </a:p>
        </p:txBody>
      </p:sp>
      <p:sp>
        <p:nvSpPr>
          <p:cNvPr id="4" name="">
            <a:extLst xmlns:a="http://schemas.openxmlformats.org/drawingml/2006/main">
              <a:ext uri="{FF2B5EF4-FFF2-40B4-BE49-F238E27FC236}">
                <a16:creationId xmlns:a16="http://schemas.microsoft.com/office/drawing/2014/main" id="{BDECD142-5F5B-4CEF-BCFC-7B504E2892B6}"/>
              </a:ext>
            </a:extLst>
          </p:cNvPr>
          <p:cNvSpPr>
            <a:spLocks xmlns:a="http://schemas.openxmlformats.org/drawingml/2006/main" noGrp="1"/>
          </p:cNvSpPr>
          <p:nvPr/>
        </p:nvSpPr>
        <p:spPr>
          <a:xfrm xmlns:a="http://schemas.openxmlformats.org/drawingml/2006/main">
            <a:off x="723900" y="4610100"/>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DF8"/>
                </a:solidFill>
                <a:latin typeface="DejaVu Sans"/>
                <a:ea typeface="DejaVu Sans"/>
                <a:cs typeface="DejaVu Sans"/>
              </a:defRPr>
            </a:pPr>
            <a:r>
              <a:rPr sz="2175" b="0">
                <a:solidFill>
                  <a:srgbClr val="FFFDF8"/>
                </a:solidFill>
                <a:latin typeface="DejaVu Sans"/>
                <a:ea typeface="DejaVu Sans"/>
                <a:cs typeface="DejaVu Sans"/>
              </a:rPr>
              <a:t>A financial practice game</a:t>
            </a:r>
          </a:p>
          <a:p xmlns:a="http://schemas.openxmlformats.org/drawingml/2006/main">
            <a:pPr>
              <a:defRPr sz="2175" b="0">
                <a:solidFill>
                  <a:srgbClr val="FFFDF8"/>
                </a:solidFill>
                <a:latin typeface="DejaVu Sans"/>
                <a:ea typeface="DejaVu Sans"/>
                <a:cs typeface="DejaVu Sans"/>
              </a:defRPr>
            </a:pPr>
            <a:r>
              <a:rPr sz="2175" b="0">
                <a:solidFill>
                  <a:srgbClr val="FFFDF8"/>
                </a:solidFill>
                <a:latin typeface="DejaVu Sans"/>
                <a:ea typeface="DejaVu Sans"/>
                <a:cs typeface="DejaVu Sans"/>
              </a:rPr>
              <a:t>for student life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ff0d4d9b6d54e07"/>
          <a:stretch xmlns:a="http://schemas.openxmlformats.org/drawingml/2006/main"/>
        </p:blipFill>
        <p:spPr>
          <a:xfrm xmlns:a="http://schemas.openxmlformats.org/drawingml/2006/main">
            <a:off x="8029575" y="1790700"/>
            <a:ext cx="3390900" cy="3390900"/>
          </a:xfrm>
          <a:prstGeom xmlns:a="http://schemas.openxmlformats.org/drawingml/2006/main" prst="rect">
            <a:avLst/>
          </a:prstGeom>
        </p:spPr>
      </p:pic>
    </p:spTree>
    <p:extLst>
      <p:ext uri="{BB962C8B-B14F-4D97-AF65-F5344CB8AC3E}">
        <p14:creationId xmlns:p14="http://schemas.microsoft.com/office/powerpoint/2010/main" val="1552256995"/>
      </p:ext>
    </p:extLst>
  </p:cSld>
</p:sld>
</file>

<file path=ppt/slides/slide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CD2204-5F23-4F8F-BB71-52F847F46A8C}"/>
              </a:ext>
            </a:extLst>
          </p:cNvPr>
          <p:cNvSpPr>
            <a:spLocks xmlns:a="http://schemas.openxmlformats.org/drawingml/2006/main" noGrp="1"/>
          </p:cNvSpPr>
          <p:nvPr/>
        </p:nvSpPr>
        <p:spPr>
          <a:xfrm xmlns:a="http://schemas.openxmlformats.org/drawingml/2006/main">
            <a:off x="647700" y="53340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861F41"/>
                </a:solidFill>
                <a:latin typeface="DejaVu Sans Mono"/>
                <a:ea typeface="DejaVu Sans Mono"/>
                <a:cs typeface="DejaVu Sans Mono"/>
              </a:defRPr>
            </a:pPr>
            <a:r>
              <a:rPr sz="3450" b="1">
                <a:solidFill>
                  <a:srgbClr val="861F41"/>
                </a:solidFill>
                <a:latin typeface="DejaVu Sans Mono"/>
                <a:ea typeface="DejaVu Sans Mono"/>
                <a:cs typeface="DejaVu Sans Mono"/>
              </a:rPr>
              <a:t>A plan meets real life</a:t>
            </a:r>
          </a:p>
        </p:txBody>
      </p:sp>
      <p:sp>
        <p:nvSpPr>
          <p:cNvPr id="2" name="">
            <a:extLst xmlns:a="http://schemas.openxmlformats.org/drawingml/2006/main">
              <a:ext uri="{FF2B5EF4-FFF2-40B4-BE49-F238E27FC236}">
                <a16:creationId xmlns:a16="http://schemas.microsoft.com/office/drawing/2014/main" id="{DD5AE468-E94E-4A0C-AFE7-D573326D9D5E}"/>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79656C"/>
                </a:solidFill>
                <a:latin typeface="DejaVu Sans Mono"/>
                <a:ea typeface="DejaVu Sans Mono"/>
                <a:cs typeface="DejaVu Sans Mono"/>
              </a:defRPr>
            </a:pPr>
            <a:r>
              <a:rPr sz="1050" b="0">
                <a:solidFill>
                  <a:srgbClr val="79656C"/>
                </a:solidFill>
                <a:latin typeface="DejaVu Sans Mono"/>
                <a:ea typeface="DejaVu Sans Mono"/>
                <a:cs typeface="DejaVu Sans Mono"/>
              </a:rPr>
              <a:t>HOKIGOTCHI   /   02</a:t>
            </a:r>
          </a:p>
        </p:txBody>
      </p:sp>
      <p:sp>
        <p:nvSpPr>
          <p:cNvPr id="3" name="">
            <a:extLst xmlns:a="http://schemas.openxmlformats.org/drawingml/2006/main">
              <a:ext uri="{FF2B5EF4-FFF2-40B4-BE49-F238E27FC236}">
                <a16:creationId xmlns:a16="http://schemas.microsoft.com/office/drawing/2014/main" id="{39334DF9-4706-4B3B-B775-C1EE24DB0280}"/>
              </a:ext>
            </a:extLst>
          </p:cNvPr>
          <p:cNvSpPr>
            <a:spLocks xmlns:a="http://schemas.openxmlformats.org/drawingml/2006/main" noGrp="1"/>
          </p:cNvSpPr>
          <p:nvPr/>
        </p:nvSpPr>
        <p:spPr>
          <a:xfrm xmlns:a="http://schemas.openxmlformats.org/drawingml/2006/main">
            <a:off x="666750" y="1647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9656C"/>
                </a:solidFill>
                <a:latin typeface="DejaVu Sans"/>
                <a:ea typeface="DejaVu Sans"/>
                <a:cs typeface="DejaVu Sans"/>
              </a:defRPr>
            </a:pPr>
            <a:r>
              <a:rPr sz="1875" b="0">
                <a:solidFill>
                  <a:srgbClr val="79656C"/>
                </a:solidFill>
                <a:latin typeface="DejaVu Sans"/>
                <a:ea typeface="DejaVu Sans"/>
                <a:cs typeface="DejaVu Sans"/>
              </a:rPr>
              <a:t>An illustrative student month</a:t>
            </a:r>
          </a:p>
        </p:txBody>
      </p:sp>
      <p:sp>
        <p:nvSpPr>
          <p:cNvPr id="4" name="">
            <a:extLst xmlns:a="http://schemas.openxmlformats.org/drawingml/2006/main">
              <a:ext uri="{FF2B5EF4-FFF2-40B4-BE49-F238E27FC236}">
                <a16:creationId xmlns:a16="http://schemas.microsoft.com/office/drawing/2014/main" id="{C96CFB08-64A1-420F-AF7C-B2E4CB902726}"/>
              </a:ext>
            </a:extLst>
          </p:cNvPr>
          <p:cNvSpPr>
            <a:spLocks xmlns:a="http://schemas.openxmlformats.org/drawingml/2006/main" noGrp="1"/>
          </p:cNvSpPr>
          <p:nvPr/>
        </p:nvSpPr>
        <p:spPr>
          <a:xfrm xmlns:a="http://schemas.openxmlformats.org/drawingml/2006/main">
            <a:off x="666750" y="2466975"/>
            <a:ext cx="3429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351923"/>
                </a:solidFill>
                <a:latin typeface="DejaVu Sans Mono"/>
                <a:ea typeface="DejaVu Sans Mono"/>
                <a:cs typeface="DejaVu Sans Mono"/>
              </a:defRPr>
            </a:pPr>
            <a:r>
              <a:rPr sz="4875" b="1">
                <a:solidFill>
                  <a:srgbClr val="351923"/>
                </a:solidFill>
                <a:latin typeface="DejaVu Sans Mono"/>
                <a:ea typeface="DejaVu Sans Mono"/>
                <a:cs typeface="DejaVu Sans Mono"/>
              </a:rPr>
              <a:t>$1,450</a:t>
            </a:r>
          </a:p>
        </p:txBody>
      </p:sp>
      <p:sp>
        <p:nvSpPr>
          <p:cNvPr id="5" name="">
            <a:extLst xmlns:a="http://schemas.openxmlformats.org/drawingml/2006/main">
              <a:ext uri="{FF2B5EF4-FFF2-40B4-BE49-F238E27FC236}">
                <a16:creationId xmlns:a16="http://schemas.microsoft.com/office/drawing/2014/main" id="{5942C562-31B8-4B2C-8CC4-4DE3C22E93CB}"/>
              </a:ext>
            </a:extLst>
          </p:cNvPr>
          <p:cNvSpPr>
            <a:spLocks xmlns:a="http://schemas.openxmlformats.org/drawingml/2006/main" noGrp="1"/>
          </p:cNvSpPr>
          <p:nvPr/>
        </p:nvSpPr>
        <p:spPr>
          <a:xfrm xmlns:a="http://schemas.openxmlformats.org/drawingml/2006/main">
            <a:off x="695325" y="35433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79656C"/>
                </a:solidFill>
                <a:latin typeface="DejaVu Sans Mono"/>
                <a:ea typeface="DejaVu Sans Mono"/>
                <a:cs typeface="DejaVu Sans Mono"/>
              </a:defRPr>
            </a:pPr>
            <a:r>
              <a:rPr sz="1650" b="0">
                <a:solidFill>
                  <a:srgbClr val="79656C"/>
                </a:solidFill>
                <a:latin typeface="DejaVu Sans Mono"/>
                <a:ea typeface="DejaVu Sans Mono"/>
                <a:cs typeface="DejaVu Sans Mono"/>
              </a:rPr>
              <a:t>INCOME</a:t>
            </a:r>
          </a:p>
        </p:txBody>
      </p:sp>
      <p:sp>
        <p:nvSpPr>
          <p:cNvPr id="6" name="">
            <a:extLst xmlns:a="http://schemas.openxmlformats.org/drawingml/2006/main">
              <a:ext uri="{FF2B5EF4-FFF2-40B4-BE49-F238E27FC236}">
                <a16:creationId xmlns:a16="http://schemas.microsoft.com/office/drawing/2014/main" id="{036233C2-4460-4685-8FF8-1E9BD644F810}"/>
              </a:ext>
            </a:extLst>
          </p:cNvPr>
          <p:cNvSpPr>
            <a:spLocks xmlns:a="http://schemas.openxmlformats.org/drawingml/2006/main" noGrp="1"/>
          </p:cNvSpPr>
          <p:nvPr/>
        </p:nvSpPr>
        <p:spPr>
          <a:xfrm xmlns:a="http://schemas.openxmlformats.org/drawingml/2006/main">
            <a:off x="4476750" y="2466975"/>
            <a:ext cx="3429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351923"/>
                </a:solidFill>
                <a:latin typeface="DejaVu Sans Mono"/>
                <a:ea typeface="DejaVu Sans Mono"/>
                <a:cs typeface="DejaVu Sans Mono"/>
              </a:defRPr>
            </a:pPr>
            <a:r>
              <a:rPr sz="4875" b="1">
                <a:solidFill>
                  <a:srgbClr val="351923"/>
                </a:solidFill>
                <a:latin typeface="DejaVu Sans Mono"/>
                <a:ea typeface="DejaVu Sans Mono"/>
                <a:cs typeface="DejaVu Sans Mono"/>
              </a:rPr>
              <a:t>$1,240</a:t>
            </a:r>
          </a:p>
        </p:txBody>
      </p:sp>
      <p:sp>
        <p:nvSpPr>
          <p:cNvPr id="7" name="">
            <a:extLst xmlns:a="http://schemas.openxmlformats.org/drawingml/2006/main">
              <a:ext uri="{FF2B5EF4-FFF2-40B4-BE49-F238E27FC236}">
                <a16:creationId xmlns:a16="http://schemas.microsoft.com/office/drawing/2014/main" id="{AD20577D-99C6-4ADC-B0C8-75E55BE548D8}"/>
              </a:ext>
            </a:extLst>
          </p:cNvPr>
          <p:cNvSpPr>
            <a:spLocks xmlns:a="http://schemas.openxmlformats.org/drawingml/2006/main" noGrp="1"/>
          </p:cNvSpPr>
          <p:nvPr/>
        </p:nvSpPr>
        <p:spPr>
          <a:xfrm xmlns:a="http://schemas.openxmlformats.org/drawingml/2006/main">
            <a:off x="4505325" y="35433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79656C"/>
                </a:solidFill>
                <a:latin typeface="DejaVu Sans Mono"/>
                <a:ea typeface="DejaVu Sans Mono"/>
                <a:cs typeface="DejaVu Sans Mono"/>
              </a:defRPr>
            </a:pPr>
            <a:r>
              <a:rPr sz="1650" b="0">
                <a:solidFill>
                  <a:srgbClr val="79656C"/>
                </a:solidFill>
                <a:latin typeface="DejaVu Sans Mono"/>
                <a:ea typeface="DejaVu Sans Mono"/>
                <a:cs typeface="DejaVu Sans Mono"/>
              </a:rPr>
              <a:t>EXPENSES</a:t>
            </a:r>
          </a:p>
        </p:txBody>
      </p:sp>
      <p:sp>
        <p:nvSpPr>
          <p:cNvPr id="8" name="">
            <a:extLst xmlns:a="http://schemas.openxmlformats.org/drawingml/2006/main">
              <a:ext uri="{FF2B5EF4-FFF2-40B4-BE49-F238E27FC236}">
                <a16:creationId xmlns:a16="http://schemas.microsoft.com/office/drawing/2014/main" id="{0AFF7465-2036-446A-ACD4-23FC9F4D0602}"/>
              </a:ext>
            </a:extLst>
          </p:cNvPr>
          <p:cNvSpPr>
            <a:spLocks xmlns:a="http://schemas.openxmlformats.org/drawingml/2006/main" noGrp="1"/>
          </p:cNvSpPr>
          <p:nvPr/>
        </p:nvSpPr>
        <p:spPr>
          <a:xfrm xmlns:a="http://schemas.openxmlformats.org/drawingml/2006/main">
            <a:off x="8286750" y="2466975"/>
            <a:ext cx="3429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E5751F"/>
                </a:solidFill>
                <a:latin typeface="DejaVu Sans Mono"/>
                <a:ea typeface="DejaVu Sans Mono"/>
                <a:cs typeface="DejaVu Sans Mono"/>
              </a:defRPr>
            </a:pPr>
            <a:r>
              <a:rPr sz="4875" b="1">
                <a:solidFill>
                  <a:srgbClr val="E5751F"/>
                </a:solidFill>
                <a:latin typeface="DejaVu Sans Mono"/>
                <a:ea typeface="DejaVu Sans Mono"/>
                <a:cs typeface="DejaVu Sans Mono"/>
              </a:rPr>
              <a:t>$210</a:t>
            </a:r>
          </a:p>
        </p:txBody>
      </p:sp>
      <p:sp>
        <p:nvSpPr>
          <p:cNvPr id="9" name="">
            <a:extLst xmlns:a="http://schemas.openxmlformats.org/drawingml/2006/main">
              <a:ext uri="{FF2B5EF4-FFF2-40B4-BE49-F238E27FC236}">
                <a16:creationId xmlns:a16="http://schemas.microsoft.com/office/drawing/2014/main" id="{759370FB-4650-4B96-B4C5-4FA8D89C8AFA}"/>
              </a:ext>
            </a:extLst>
          </p:cNvPr>
          <p:cNvSpPr>
            <a:spLocks xmlns:a="http://schemas.openxmlformats.org/drawingml/2006/main" noGrp="1"/>
          </p:cNvSpPr>
          <p:nvPr/>
        </p:nvSpPr>
        <p:spPr>
          <a:xfrm xmlns:a="http://schemas.openxmlformats.org/drawingml/2006/main">
            <a:off x="8315325" y="35433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79656C"/>
                </a:solidFill>
                <a:latin typeface="DejaVu Sans Mono"/>
                <a:ea typeface="DejaVu Sans Mono"/>
                <a:cs typeface="DejaVu Sans Mono"/>
              </a:defRPr>
            </a:pPr>
            <a:r>
              <a:rPr sz="1650" b="0">
                <a:solidFill>
                  <a:srgbClr val="79656C"/>
                </a:solidFill>
                <a:latin typeface="DejaVu Sans Mono"/>
                <a:ea typeface="DejaVu Sans Mono"/>
                <a:cs typeface="DejaVu Sans Mono"/>
              </a:rPr>
              <a:t>LEFT OVER</a:t>
            </a:r>
          </a:p>
        </p:txBody>
      </p:sp>
      <p:sp>
        <p:nvSpPr>
          <p:cNvPr id="10" name="">
            <a:extLst xmlns:a="http://schemas.openxmlformats.org/drawingml/2006/main">
              <a:ext uri="{FF2B5EF4-FFF2-40B4-BE49-F238E27FC236}">
                <a16:creationId xmlns:a16="http://schemas.microsoft.com/office/drawing/2014/main" id="{31432975-08EE-4D81-B73B-CABD7FED59CC}"/>
              </a:ext>
            </a:extLst>
          </p:cNvPr>
          <p:cNvSpPr>
            <a:spLocks xmlns:a="http://schemas.openxmlformats.org/drawingml/2006/main" noGrp="1"/>
          </p:cNvSpPr>
          <p:nvPr/>
        </p:nvSpPr>
        <p:spPr>
          <a:xfrm xmlns:a="http://schemas.openxmlformats.org/drawingml/2006/main">
            <a:off x="666750" y="4762500"/>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861F41"/>
                </a:solidFill>
                <a:latin typeface="DejaVu Sans Mono"/>
                <a:ea typeface="DejaVu Sans Mono"/>
                <a:cs typeface="DejaVu Sans Mono"/>
              </a:defRPr>
            </a:pPr>
            <a:r>
              <a:rPr sz="2775" b="1">
                <a:solidFill>
                  <a:srgbClr val="861F41"/>
                </a:solidFill>
                <a:latin typeface="DejaVu Sans Mono"/>
                <a:ea typeface="DejaVu Sans Mono"/>
                <a:cs typeface="DejaVu Sans Mono"/>
              </a:rPr>
              <a:t>One $850 surprise can rewrite the plan.</a:t>
            </a:r>
          </a:p>
        </p:txBody>
      </p:sp>
      <p:sp>
        <p:nvSpPr>
          <p:cNvPr id="11" name="">
            <a:extLst xmlns:a="http://schemas.openxmlformats.org/drawingml/2006/main">
              <a:ext uri="{FF2B5EF4-FFF2-40B4-BE49-F238E27FC236}">
                <a16:creationId xmlns:a16="http://schemas.microsoft.com/office/drawing/2014/main" id="{A21F4B82-9847-4849-BD17-6D242C0CFCD5}"/>
              </a:ext>
            </a:extLst>
          </p:cNvPr>
          <p:cNvSpPr>
            <a:spLocks xmlns:a="http://schemas.openxmlformats.org/drawingml/2006/main" noGrp="1"/>
          </p:cNvSpPr>
          <p:nvPr/>
        </p:nvSpPr>
        <p:spPr>
          <a:xfrm xmlns:a="http://schemas.openxmlformats.org/drawingml/2006/main">
            <a:off x="685800" y="58388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656C"/>
                </a:solidFill>
                <a:latin typeface="DejaVu Sans"/>
                <a:ea typeface="DejaVu Sans"/>
                <a:cs typeface="DejaVu Sans"/>
              </a:defRPr>
            </a:pPr>
            <a:r>
              <a:rPr sz="1725" b="0">
                <a:solidFill>
                  <a:srgbClr val="79656C"/>
                </a:solidFill>
                <a:latin typeface="DejaVu Sans"/>
                <a:ea typeface="DejaVu Sans"/>
                <a:cs typeface="DejaVu Sans"/>
              </a:rPr>
              <a:t>The opportunity: make the consequences visible before the decision.</a:t>
            </a:r>
          </a:p>
        </p:txBody>
      </p:sp>
    </p:spTree>
    <p:extLst>
      <p:ext uri="{BB962C8B-B14F-4D97-AF65-F5344CB8AC3E}">
        <p14:creationId xmlns:p14="http://schemas.microsoft.com/office/powerpoint/2010/main" val="591409243"/>
      </p:ext>
    </p:extLst>
  </p:cSld>
</p:sld>
</file>

<file path=ppt/slides/slide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EB4FD7-725A-49BD-9F87-79C55EC0F20A}"/>
              </a:ext>
            </a:extLst>
          </p:cNvPr>
          <p:cNvSpPr>
            <a:spLocks xmlns:a="http://schemas.openxmlformats.org/drawingml/2006/main" noGrp="1"/>
          </p:cNvSpPr>
          <p:nvPr/>
        </p:nvSpPr>
        <p:spPr>
          <a:xfrm xmlns:a="http://schemas.openxmlformats.org/drawingml/2006/main">
            <a:off x="647700" y="53340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861F41"/>
                </a:solidFill>
                <a:latin typeface="DejaVu Sans Mono"/>
                <a:ea typeface="DejaVu Sans Mono"/>
                <a:cs typeface="DejaVu Sans Mono"/>
              </a:defRPr>
            </a:pPr>
            <a:r>
              <a:rPr sz="3450" b="1">
                <a:solidFill>
                  <a:srgbClr val="861F41"/>
                </a:solidFill>
                <a:latin typeface="DejaVu Sans Mono"/>
                <a:ea typeface="DejaVu Sans Mono"/>
                <a:cs typeface="DejaVu Sans Mono"/>
              </a:rPr>
              <a:t>Your habits grow Hoki</a:t>
            </a:r>
          </a:p>
        </p:txBody>
      </p:sp>
      <p:sp>
        <p:nvSpPr>
          <p:cNvPr id="2" name="">
            <a:extLst xmlns:a="http://schemas.openxmlformats.org/drawingml/2006/main">
              <a:ext uri="{FF2B5EF4-FFF2-40B4-BE49-F238E27FC236}">
                <a16:creationId xmlns:a16="http://schemas.microsoft.com/office/drawing/2014/main" id="{91FE30CE-6782-4D93-A212-378A21C90ADA}"/>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79656C"/>
                </a:solidFill>
                <a:latin typeface="DejaVu Sans Mono"/>
                <a:ea typeface="DejaVu Sans Mono"/>
                <a:cs typeface="DejaVu Sans Mono"/>
              </a:defRPr>
            </a:pPr>
            <a:r>
              <a:rPr sz="1050" b="0">
                <a:solidFill>
                  <a:srgbClr val="79656C"/>
                </a:solidFill>
                <a:latin typeface="DejaVu Sans Mono"/>
                <a:ea typeface="DejaVu Sans Mono"/>
                <a:cs typeface="DejaVu Sans Mono"/>
              </a:rPr>
              <a:t>HOKIGOTCHI   /   03</a:t>
            </a:r>
          </a:p>
        </p:txBody>
      </p:sp>
      <p:sp>
        <p:nvSpPr>
          <p:cNvPr id="3" name="">
            <a:extLst xmlns:a="http://schemas.openxmlformats.org/drawingml/2006/main">
              <a:ext uri="{FF2B5EF4-FFF2-40B4-BE49-F238E27FC236}">
                <a16:creationId xmlns:a16="http://schemas.microsoft.com/office/drawing/2014/main" id="{39F4FBFD-7C3B-4BA3-9C98-795F2FD425DD}"/>
              </a:ext>
            </a:extLst>
          </p:cNvPr>
          <p:cNvSpPr>
            <a:spLocks xmlns:a="http://schemas.openxmlformats.org/drawingml/2006/main" noGrp="1"/>
          </p:cNvSpPr>
          <p:nvPr/>
        </p:nvSpPr>
        <p:spPr>
          <a:xfrm xmlns:a="http://schemas.openxmlformats.org/drawingml/2006/main">
            <a:off x="666750" y="15240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79656C"/>
                </a:solidFill>
                <a:latin typeface="DejaVu Sans"/>
                <a:ea typeface="DejaVu Sans"/>
                <a:cs typeface="DejaVu Sans"/>
              </a:defRPr>
            </a:pPr>
            <a:r>
              <a:rPr sz="1950" b="0">
                <a:solidFill>
                  <a:srgbClr val="79656C"/>
                </a:solidFill>
                <a:latin typeface="DejaVu Sans"/>
                <a:ea typeface="DejaVu Sans"/>
                <a:cs typeface="DejaVu Sans"/>
              </a:rPr>
              <a:t>Progress comes from what you do with your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9d00fa832ef49ac"/>
          <a:stretch xmlns:a="http://schemas.openxmlformats.org/drawingml/2006/main"/>
        </p:blipFill>
        <p:spPr>
          <a:xfrm xmlns:a="http://schemas.openxmlformats.org/drawingml/2006/main">
            <a:off x="625929" y="2105025"/>
            <a:ext cx="10940143" cy="3190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91DE59-4F93-47AE-A6F7-88836163036D}"/>
              </a:ext>
            </a:extLst>
          </p:cNvPr>
          <p:cNvSpPr>
            <a:spLocks xmlns:a="http://schemas.openxmlformats.org/drawingml/2006/main" noGrp="1"/>
          </p:cNvSpPr>
          <p:nvPr/>
        </p:nvSpPr>
        <p:spPr>
          <a:xfrm xmlns:a="http://schemas.openxmlformats.org/drawingml/2006/main">
            <a:off x="685800" y="53530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351923"/>
                </a:solidFill>
                <a:latin typeface="DejaVu Sans"/>
                <a:ea typeface="DejaVu Sans"/>
                <a:cs typeface="DejaVu Sans"/>
              </a:defRPr>
            </a:pPr>
            <a:r>
              <a:rPr sz="1725" b="1">
                <a:solidFill>
                  <a:srgbClr val="351923"/>
                </a:solidFill>
                <a:latin typeface="DejaVu Sans"/>
                <a:ea typeface="DejaVu Sans"/>
                <a:cs typeface="DejaVu Sans"/>
              </a:rPr>
              <a:t>Log an expense</a:t>
            </a:r>
          </a:p>
        </p:txBody>
      </p:sp>
      <p:sp>
        <p:nvSpPr>
          <p:cNvPr id="6" name="">
            <a:extLst xmlns:a="http://schemas.openxmlformats.org/drawingml/2006/main">
              <a:ext uri="{FF2B5EF4-FFF2-40B4-BE49-F238E27FC236}">
                <a16:creationId xmlns:a16="http://schemas.microsoft.com/office/drawing/2014/main" id="{18C4DCC1-740F-4AA1-BCF9-D2F2D7F48158}"/>
              </a:ext>
            </a:extLst>
          </p:cNvPr>
          <p:cNvSpPr>
            <a:spLocks xmlns:a="http://schemas.openxmlformats.org/drawingml/2006/main" noGrp="1"/>
          </p:cNvSpPr>
          <p:nvPr/>
        </p:nvSpPr>
        <p:spPr>
          <a:xfrm xmlns:a="http://schemas.openxmlformats.org/drawingml/2006/main">
            <a:off x="685800" y="5753100"/>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E5751F"/>
                </a:solidFill>
                <a:latin typeface="DejaVu Sans Mono"/>
                <a:ea typeface="DejaVu Sans Mono"/>
                <a:cs typeface="DejaVu Sans Mono"/>
              </a:defRPr>
            </a:pPr>
            <a:r>
              <a:rPr sz="2325" b="1">
                <a:solidFill>
                  <a:srgbClr val="E5751F"/>
                </a:solidFill>
                <a:latin typeface="DejaVu Sans Mono"/>
                <a:ea typeface="DejaVu Sans Mono"/>
                <a:cs typeface="DejaVu Sans Mono"/>
              </a:rPr>
              <a:t>+10 XP</a:t>
            </a:r>
          </a:p>
        </p:txBody>
      </p:sp>
      <p:sp>
        <p:nvSpPr>
          <p:cNvPr id="7" name="">
            <a:extLst xmlns:a="http://schemas.openxmlformats.org/drawingml/2006/main">
              <a:ext uri="{FF2B5EF4-FFF2-40B4-BE49-F238E27FC236}">
                <a16:creationId xmlns:a16="http://schemas.microsoft.com/office/drawing/2014/main" id="{6CFE52FE-2E86-4BB0-B827-58953F268A36}"/>
              </a:ext>
            </a:extLst>
          </p:cNvPr>
          <p:cNvSpPr>
            <a:spLocks xmlns:a="http://schemas.openxmlformats.org/drawingml/2006/main" noGrp="1"/>
          </p:cNvSpPr>
          <p:nvPr/>
        </p:nvSpPr>
        <p:spPr>
          <a:xfrm xmlns:a="http://schemas.openxmlformats.org/drawingml/2006/main">
            <a:off x="4524375" y="53530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351923"/>
                </a:solidFill>
                <a:latin typeface="DejaVu Sans"/>
                <a:ea typeface="DejaVu Sans"/>
                <a:cs typeface="DejaVu Sans"/>
              </a:defRPr>
            </a:pPr>
            <a:r>
              <a:rPr sz="1725" b="1">
                <a:solidFill>
                  <a:srgbClr val="351923"/>
                </a:solidFill>
                <a:latin typeface="DejaVu Sans"/>
                <a:ea typeface="DejaVu Sans"/>
                <a:cs typeface="DejaVu Sans"/>
              </a:rPr>
              <a:t>Plan this week</a:t>
            </a:r>
          </a:p>
        </p:txBody>
      </p:sp>
      <p:sp>
        <p:nvSpPr>
          <p:cNvPr id="8" name="">
            <a:extLst xmlns:a="http://schemas.openxmlformats.org/drawingml/2006/main">
              <a:ext uri="{FF2B5EF4-FFF2-40B4-BE49-F238E27FC236}">
                <a16:creationId xmlns:a16="http://schemas.microsoft.com/office/drawing/2014/main" id="{D279BC9D-B895-4253-9C6F-D273F5923684}"/>
              </a:ext>
            </a:extLst>
          </p:cNvPr>
          <p:cNvSpPr>
            <a:spLocks xmlns:a="http://schemas.openxmlformats.org/drawingml/2006/main" noGrp="1"/>
          </p:cNvSpPr>
          <p:nvPr/>
        </p:nvSpPr>
        <p:spPr>
          <a:xfrm xmlns:a="http://schemas.openxmlformats.org/drawingml/2006/main">
            <a:off x="4524375" y="57531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E5751F"/>
                </a:solidFill>
                <a:latin typeface="DejaVu Sans Mono"/>
                <a:ea typeface="DejaVu Sans Mono"/>
                <a:cs typeface="DejaVu Sans Mono"/>
              </a:defRPr>
            </a:pPr>
            <a:r>
              <a:rPr sz="2325" b="1">
                <a:solidFill>
                  <a:srgbClr val="E5751F"/>
                </a:solidFill>
                <a:latin typeface="DejaVu Sans Mono"/>
                <a:ea typeface="DejaVu Sans Mono"/>
                <a:cs typeface="DejaVu Sans Mono"/>
              </a:rPr>
              <a:t>+25 XP</a:t>
            </a:r>
          </a:p>
        </p:txBody>
      </p:sp>
      <p:sp>
        <p:nvSpPr>
          <p:cNvPr id="9" name="">
            <a:extLst xmlns:a="http://schemas.openxmlformats.org/drawingml/2006/main">
              <a:ext uri="{FF2B5EF4-FFF2-40B4-BE49-F238E27FC236}">
                <a16:creationId xmlns:a16="http://schemas.microsoft.com/office/drawing/2014/main" id="{5ED3E042-7A6D-4EF6-8F32-4542A1BE0861}"/>
              </a:ext>
            </a:extLst>
          </p:cNvPr>
          <p:cNvSpPr>
            <a:spLocks xmlns:a="http://schemas.openxmlformats.org/drawingml/2006/main" noGrp="1"/>
          </p:cNvSpPr>
          <p:nvPr/>
        </p:nvSpPr>
        <p:spPr>
          <a:xfrm xmlns:a="http://schemas.openxmlformats.org/drawingml/2006/main">
            <a:off x="8305800" y="53530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351923"/>
                </a:solidFill>
                <a:latin typeface="DejaVu Sans"/>
                <a:ea typeface="DejaVu Sans"/>
                <a:cs typeface="DejaVu Sans"/>
              </a:defRPr>
            </a:pPr>
            <a:r>
              <a:rPr sz="1650" b="1">
                <a:solidFill>
                  <a:srgbClr val="351923"/>
                </a:solidFill>
                <a:latin typeface="DejaVu Sans"/>
                <a:ea typeface="DejaVu Sans"/>
                <a:cs typeface="DejaVu Sans"/>
              </a:rPr>
              <a:t>New savings milestone</a:t>
            </a:r>
          </a:p>
        </p:txBody>
      </p:sp>
      <p:sp>
        <p:nvSpPr>
          <p:cNvPr id="10" name="">
            <a:extLst xmlns:a="http://schemas.openxmlformats.org/drawingml/2006/main">
              <a:ext uri="{FF2B5EF4-FFF2-40B4-BE49-F238E27FC236}">
                <a16:creationId xmlns:a16="http://schemas.microsoft.com/office/drawing/2014/main" id="{1D39F9EB-5207-4362-8466-36986BFA42C4}"/>
              </a:ext>
            </a:extLst>
          </p:cNvPr>
          <p:cNvSpPr>
            <a:spLocks xmlns:a="http://schemas.openxmlformats.org/drawingml/2006/main" noGrp="1"/>
          </p:cNvSpPr>
          <p:nvPr/>
        </p:nvSpPr>
        <p:spPr>
          <a:xfrm xmlns:a="http://schemas.openxmlformats.org/drawingml/2006/main">
            <a:off x="8305800" y="57531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E5751F"/>
                </a:solidFill>
                <a:latin typeface="DejaVu Sans Mono"/>
                <a:ea typeface="DejaVu Sans Mono"/>
                <a:cs typeface="DejaVu Sans Mono"/>
              </a:defRPr>
            </a:pPr>
            <a:r>
              <a:rPr sz="2325" b="1">
                <a:solidFill>
                  <a:srgbClr val="E5751F"/>
                </a:solidFill>
                <a:latin typeface="DejaVu Sans Mono"/>
                <a:ea typeface="DejaVu Sans Mono"/>
                <a:cs typeface="DejaVu Sans Mono"/>
              </a:rPr>
              <a:t>+25–100 XP</a:t>
            </a:r>
          </a:p>
        </p:txBody>
      </p:sp>
    </p:spTree>
    <p:extLst>
      <p:ext uri="{BB962C8B-B14F-4D97-AF65-F5344CB8AC3E}">
        <p14:creationId xmlns:p14="http://schemas.microsoft.com/office/powerpoint/2010/main" val="1995443729"/>
      </p:ext>
    </p:extLst>
  </p:cSld>
</p:sld>
</file>

<file path=ppt/slides/slide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C4EBCC-EC18-4F1A-9435-104B8106BDB4}"/>
              </a:ext>
            </a:extLst>
          </p:cNvPr>
          <p:cNvSpPr>
            <a:spLocks xmlns:a="http://schemas.openxmlformats.org/drawingml/2006/main" noGrp="1"/>
          </p:cNvSpPr>
          <p:nvPr/>
        </p:nvSpPr>
        <p:spPr>
          <a:xfrm xmlns:a="http://schemas.openxmlformats.org/drawingml/2006/main">
            <a:off x="647700" y="53340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861F41"/>
                </a:solidFill>
                <a:latin typeface="DejaVu Sans Mono"/>
                <a:ea typeface="DejaVu Sans Mono"/>
                <a:cs typeface="DejaVu Sans Mono"/>
              </a:defRPr>
            </a:pPr>
            <a:r>
              <a:rPr sz="3450" b="1">
                <a:solidFill>
                  <a:srgbClr val="861F41"/>
                </a:solidFill>
                <a:latin typeface="DejaVu Sans Mono"/>
                <a:ea typeface="DejaVu Sans Mono"/>
                <a:cs typeface="DejaVu Sans Mono"/>
              </a:rPr>
              <a:t>Chaos Mode: the laptop breaks</a:t>
            </a:r>
          </a:p>
        </p:txBody>
      </p:sp>
      <p:sp>
        <p:nvSpPr>
          <p:cNvPr id="2" name="">
            <a:extLst xmlns:a="http://schemas.openxmlformats.org/drawingml/2006/main">
              <a:ext uri="{FF2B5EF4-FFF2-40B4-BE49-F238E27FC236}">
                <a16:creationId xmlns:a16="http://schemas.microsoft.com/office/drawing/2014/main" id="{6F8E5582-02C7-4D46-942E-0B615045BAC2}"/>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79656C"/>
                </a:solidFill>
                <a:latin typeface="DejaVu Sans Mono"/>
                <a:ea typeface="DejaVu Sans Mono"/>
                <a:cs typeface="DejaVu Sans Mono"/>
              </a:defRPr>
            </a:pPr>
            <a:r>
              <a:rPr sz="1050" b="0">
                <a:solidFill>
                  <a:srgbClr val="79656C"/>
                </a:solidFill>
                <a:latin typeface="DejaVu Sans Mono"/>
                <a:ea typeface="DejaVu Sans Mono"/>
                <a:cs typeface="DejaVu Sans Mono"/>
              </a:rPr>
              <a:t>HOKIGOTCHI   /   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b97733a08c34542"/>
          <a:stretch xmlns:a="http://schemas.openxmlformats.org/drawingml/2006/main"/>
        </p:blipFill>
        <p:spPr>
          <a:xfrm xmlns:a="http://schemas.openxmlformats.org/drawingml/2006/main">
            <a:off x="674225" y="1628775"/>
            <a:ext cx="10843549" cy="2781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C03AD2-9D30-44AE-9980-B8E92CF07568}"/>
              </a:ext>
            </a:extLst>
          </p:cNvPr>
          <p:cNvSpPr>
            <a:spLocks xmlns:a="http://schemas.openxmlformats.org/drawingml/2006/main" noGrp="1"/>
          </p:cNvSpPr>
          <p:nvPr/>
        </p:nvSpPr>
        <p:spPr>
          <a:xfrm xmlns:a="http://schemas.openxmlformats.org/drawingml/2006/main">
            <a:off x="666750" y="47434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861F41"/>
                </a:solidFill>
                <a:latin typeface="DejaVu Sans Mono"/>
                <a:ea typeface="DejaVu Sans Mono"/>
                <a:cs typeface="DejaVu Sans Mono"/>
              </a:defRPr>
            </a:pPr>
            <a:r>
              <a:rPr sz="2475" b="1">
                <a:solidFill>
                  <a:srgbClr val="861F41"/>
                </a:solidFill>
                <a:latin typeface="DejaVu Sans Mono"/>
                <a:ea typeface="DejaVu Sans Mono"/>
                <a:cs typeface="DejaVu Sans Mono"/>
              </a:rPr>
              <a:t>Which path would you choose?</a:t>
            </a:r>
          </a:p>
        </p:txBody>
      </p:sp>
      <p:sp>
        <p:nvSpPr>
          <p:cNvPr id="5" name="">
            <a:extLst xmlns:a="http://schemas.openxmlformats.org/drawingml/2006/main">
              <a:ext uri="{FF2B5EF4-FFF2-40B4-BE49-F238E27FC236}">
                <a16:creationId xmlns:a16="http://schemas.microsoft.com/office/drawing/2014/main" id="{15AD9E0A-D118-428C-9208-86E76B2981A8}"/>
              </a:ext>
            </a:extLst>
          </p:cNvPr>
          <p:cNvSpPr>
            <a:spLocks xmlns:a="http://schemas.openxmlformats.org/drawingml/2006/main" noGrp="1"/>
          </p:cNvSpPr>
          <p:nvPr/>
        </p:nvSpPr>
        <p:spPr>
          <a:xfrm xmlns:a="http://schemas.openxmlformats.org/drawingml/2006/main">
            <a:off x="685800" y="54673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51923"/>
                </a:solidFill>
                <a:latin typeface="DejaVu Sans Mono"/>
                <a:ea typeface="DejaVu Sans Mono"/>
                <a:cs typeface="DejaVu Sans Mono"/>
              </a:defRPr>
            </a:pPr>
            <a:r>
              <a:rPr sz="1875" b="1">
                <a:solidFill>
                  <a:srgbClr val="351923"/>
                </a:solidFill>
                <a:latin typeface="DejaVu Sans Mono"/>
                <a:ea typeface="DejaVu Sans Mono"/>
                <a:cs typeface="DejaVu Sans Mono"/>
              </a:rPr>
              <a:t>A   Buy new</a:t>
            </a:r>
          </a:p>
        </p:txBody>
      </p:sp>
      <p:sp>
        <p:nvSpPr>
          <p:cNvPr id="6" name="">
            <a:extLst xmlns:a="http://schemas.openxmlformats.org/drawingml/2006/main">
              <a:ext uri="{FF2B5EF4-FFF2-40B4-BE49-F238E27FC236}">
                <a16:creationId xmlns:a16="http://schemas.microsoft.com/office/drawing/2014/main" id="{AF085F50-46D6-4448-93D3-C0BB2A9B9470}"/>
              </a:ext>
            </a:extLst>
          </p:cNvPr>
          <p:cNvSpPr>
            <a:spLocks xmlns:a="http://schemas.openxmlformats.org/drawingml/2006/main" noGrp="1"/>
          </p:cNvSpPr>
          <p:nvPr/>
        </p:nvSpPr>
        <p:spPr>
          <a:xfrm xmlns:a="http://schemas.openxmlformats.org/drawingml/2006/main">
            <a:off x="685800" y="58483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5751F"/>
                </a:solidFill>
                <a:latin typeface="DejaVu Sans Mono"/>
                <a:ea typeface="DejaVu Sans Mono"/>
                <a:cs typeface="DejaVu Sans Mono"/>
              </a:defRPr>
            </a:pPr>
            <a:r>
              <a:rPr sz="2250" b="1">
                <a:solidFill>
                  <a:srgbClr val="E5751F"/>
                </a:solidFill>
                <a:latin typeface="DejaVu Sans Mono"/>
                <a:ea typeface="DejaVu Sans Mono"/>
                <a:cs typeface="DejaVu Sans Mono"/>
              </a:rPr>
              <a:t>$850</a:t>
            </a:r>
          </a:p>
        </p:txBody>
      </p:sp>
      <p:sp>
        <p:nvSpPr>
          <p:cNvPr id="7" name="">
            <a:extLst xmlns:a="http://schemas.openxmlformats.org/drawingml/2006/main">
              <a:ext uri="{FF2B5EF4-FFF2-40B4-BE49-F238E27FC236}">
                <a16:creationId xmlns:a16="http://schemas.microsoft.com/office/drawing/2014/main" id="{C2D55475-2840-480B-9554-64AD02E1E44A}"/>
              </a:ext>
            </a:extLst>
          </p:cNvPr>
          <p:cNvSpPr>
            <a:spLocks xmlns:a="http://schemas.openxmlformats.org/drawingml/2006/main" noGrp="1"/>
          </p:cNvSpPr>
          <p:nvPr/>
        </p:nvSpPr>
        <p:spPr>
          <a:xfrm xmlns:a="http://schemas.openxmlformats.org/drawingml/2006/main">
            <a:off x="4429125" y="54673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51923"/>
                </a:solidFill>
                <a:latin typeface="DejaVu Sans Mono"/>
                <a:ea typeface="DejaVu Sans Mono"/>
                <a:cs typeface="DejaVu Sans Mono"/>
              </a:defRPr>
            </a:pPr>
            <a:r>
              <a:rPr sz="1875" b="1">
                <a:solidFill>
                  <a:srgbClr val="351923"/>
                </a:solidFill>
                <a:latin typeface="DejaVu Sans Mono"/>
                <a:ea typeface="DejaVu Sans Mono"/>
                <a:cs typeface="DejaVu Sans Mono"/>
              </a:rPr>
              <a:t>B   Refurbished</a:t>
            </a:r>
          </a:p>
        </p:txBody>
      </p:sp>
      <p:sp>
        <p:nvSpPr>
          <p:cNvPr id="8" name="">
            <a:extLst xmlns:a="http://schemas.openxmlformats.org/drawingml/2006/main">
              <a:ext uri="{FF2B5EF4-FFF2-40B4-BE49-F238E27FC236}">
                <a16:creationId xmlns:a16="http://schemas.microsoft.com/office/drawing/2014/main" id="{83951899-2AA6-46B7-9AB2-85610E7B6BBB}"/>
              </a:ext>
            </a:extLst>
          </p:cNvPr>
          <p:cNvSpPr>
            <a:spLocks xmlns:a="http://schemas.openxmlformats.org/drawingml/2006/main" noGrp="1"/>
          </p:cNvSpPr>
          <p:nvPr/>
        </p:nvSpPr>
        <p:spPr>
          <a:xfrm xmlns:a="http://schemas.openxmlformats.org/drawingml/2006/main">
            <a:off x="4429125" y="58483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5751F"/>
                </a:solidFill>
                <a:latin typeface="DejaVu Sans Mono"/>
                <a:ea typeface="DejaVu Sans Mono"/>
                <a:cs typeface="DejaVu Sans Mono"/>
              </a:defRPr>
            </a:pPr>
            <a:r>
              <a:rPr sz="2250" b="1">
                <a:solidFill>
                  <a:srgbClr val="E5751F"/>
                </a:solidFill>
                <a:latin typeface="DejaVu Sans Mono"/>
                <a:ea typeface="DejaVu Sans Mono"/>
                <a:cs typeface="DejaVu Sans Mono"/>
              </a:rPr>
              <a:t>$430</a:t>
            </a:r>
          </a:p>
        </p:txBody>
      </p:sp>
      <p:sp>
        <p:nvSpPr>
          <p:cNvPr id="9" name="">
            <a:extLst xmlns:a="http://schemas.openxmlformats.org/drawingml/2006/main">
              <a:ext uri="{FF2B5EF4-FFF2-40B4-BE49-F238E27FC236}">
                <a16:creationId xmlns:a16="http://schemas.microsoft.com/office/drawing/2014/main" id="{5C4BD9BC-B191-4767-9EF3-82530414D762}"/>
              </a:ext>
            </a:extLst>
          </p:cNvPr>
          <p:cNvSpPr>
            <a:spLocks xmlns:a="http://schemas.openxmlformats.org/drawingml/2006/main" noGrp="1"/>
          </p:cNvSpPr>
          <p:nvPr/>
        </p:nvSpPr>
        <p:spPr>
          <a:xfrm xmlns:a="http://schemas.openxmlformats.org/drawingml/2006/main">
            <a:off x="8334375" y="54673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51923"/>
                </a:solidFill>
                <a:latin typeface="DejaVu Sans Mono"/>
                <a:ea typeface="DejaVu Sans Mono"/>
                <a:cs typeface="DejaVu Sans Mono"/>
              </a:defRPr>
            </a:pPr>
            <a:r>
              <a:rPr sz="1875" b="1">
                <a:solidFill>
                  <a:srgbClr val="351923"/>
                </a:solidFill>
                <a:latin typeface="DejaVu Sans Mono"/>
                <a:ea typeface="DejaVu Sans Mono"/>
                <a:cs typeface="DejaVu Sans Mono"/>
              </a:rPr>
              <a:t>C   Repair</a:t>
            </a:r>
          </a:p>
        </p:txBody>
      </p:sp>
      <p:sp>
        <p:nvSpPr>
          <p:cNvPr id="10" name="">
            <a:extLst xmlns:a="http://schemas.openxmlformats.org/drawingml/2006/main">
              <a:ext uri="{FF2B5EF4-FFF2-40B4-BE49-F238E27FC236}">
                <a16:creationId xmlns:a16="http://schemas.microsoft.com/office/drawing/2014/main" id="{391E5254-99B4-4DDB-9A2F-1D4264ECBF62}"/>
              </a:ext>
            </a:extLst>
          </p:cNvPr>
          <p:cNvSpPr>
            <a:spLocks xmlns:a="http://schemas.openxmlformats.org/drawingml/2006/main" noGrp="1"/>
          </p:cNvSpPr>
          <p:nvPr/>
        </p:nvSpPr>
        <p:spPr>
          <a:xfrm xmlns:a="http://schemas.openxmlformats.org/drawingml/2006/main">
            <a:off x="8334375" y="590550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E5751F"/>
                </a:solidFill>
                <a:latin typeface="DejaVu Sans Mono"/>
                <a:ea typeface="DejaVu Sans Mono"/>
                <a:cs typeface="DejaVu Sans Mono"/>
              </a:defRPr>
            </a:pPr>
            <a:r>
              <a:rPr sz="1575" b="1">
                <a:solidFill>
                  <a:srgbClr val="E5751F"/>
                </a:solidFill>
                <a:latin typeface="DejaVu Sans Mono"/>
                <a:ea typeface="DejaVu Sans Mono"/>
                <a:cs typeface="DejaVu Sans Mono"/>
              </a:rPr>
              <a:t>$180 if successful</a:t>
            </a:r>
          </a:p>
        </p:txBody>
      </p:sp>
    </p:spTree>
    <p:extLst>
      <p:ext uri="{BB962C8B-B14F-4D97-AF65-F5344CB8AC3E}">
        <p14:creationId xmlns:p14="http://schemas.microsoft.com/office/powerpoint/2010/main" val="1670396011"/>
      </p:ext>
    </p:extLst>
  </p:cSld>
</p:sld>
</file>

<file path=ppt/slides/slide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FB3DC3-639A-4A5D-82BA-33F214C21386}"/>
              </a:ext>
            </a:extLst>
          </p:cNvPr>
          <p:cNvSpPr>
            <a:spLocks xmlns:a="http://schemas.openxmlformats.org/drawingml/2006/main" noGrp="1"/>
          </p:cNvSpPr>
          <p:nvPr/>
        </p:nvSpPr>
        <p:spPr>
          <a:xfrm xmlns:a="http://schemas.openxmlformats.org/drawingml/2006/main">
            <a:off x="647700" y="53340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861F41"/>
                </a:solidFill>
                <a:latin typeface="DejaVu Sans Mono"/>
                <a:ea typeface="DejaVu Sans Mono"/>
                <a:cs typeface="DejaVu Sans Mono"/>
              </a:defRPr>
            </a:pPr>
            <a:r>
              <a:rPr sz="3450" b="1">
                <a:solidFill>
                  <a:srgbClr val="861F41"/>
                </a:solidFill>
                <a:latin typeface="DejaVu Sans Mono"/>
                <a:ea typeface="DejaVu Sans Mono"/>
                <a:cs typeface="DejaVu Sans Mono"/>
              </a:rPr>
              <a:t>One choice changes the timeline</a:t>
            </a:r>
          </a:p>
        </p:txBody>
      </p:sp>
      <p:sp>
        <p:nvSpPr>
          <p:cNvPr id="2" name="">
            <a:extLst xmlns:a="http://schemas.openxmlformats.org/drawingml/2006/main">
              <a:ext uri="{FF2B5EF4-FFF2-40B4-BE49-F238E27FC236}">
                <a16:creationId xmlns:a16="http://schemas.microsoft.com/office/drawing/2014/main" id="{CC72EF11-9901-47B3-84B2-DB1AEEAEE9F0}"/>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79656C"/>
                </a:solidFill>
                <a:latin typeface="DejaVu Sans Mono"/>
                <a:ea typeface="DejaVu Sans Mono"/>
                <a:cs typeface="DejaVu Sans Mono"/>
              </a:defRPr>
            </a:pPr>
            <a:r>
              <a:rPr sz="1050" b="0">
                <a:solidFill>
                  <a:srgbClr val="79656C"/>
                </a:solidFill>
                <a:latin typeface="DejaVu Sans Mono"/>
                <a:ea typeface="DejaVu Sans Mono"/>
                <a:cs typeface="DejaVu Sans Mono"/>
              </a:rPr>
              <a:t>HOKIGOTCHI   /   05</a:t>
            </a:r>
          </a:p>
        </p:txBody>
      </p:sp>
      <p:sp>
        <p:nvSpPr>
          <p:cNvPr id="3" name="">
            <a:extLst xmlns:a="http://schemas.openxmlformats.org/drawingml/2006/main">
              <a:ext uri="{FF2B5EF4-FFF2-40B4-BE49-F238E27FC236}">
                <a16:creationId xmlns:a16="http://schemas.microsoft.com/office/drawing/2014/main" id="{8B661656-1C6F-4E0C-AFF9-9D4396E78CBB}"/>
              </a:ext>
            </a:extLst>
          </p:cNvPr>
          <p:cNvSpPr>
            <a:spLocks xmlns:a="http://schemas.openxmlformats.org/drawingml/2006/main" noGrp="1"/>
          </p:cNvSpPr>
          <p:nvPr/>
        </p:nvSpPr>
        <p:spPr>
          <a:xfrm xmlns:a="http://schemas.openxmlformats.org/drawingml/2006/main">
            <a:off x="666750" y="15335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9656C"/>
                </a:solidFill>
                <a:latin typeface="DejaVu Sans"/>
                <a:ea typeface="DejaVu Sans"/>
                <a:cs typeface="DejaVu Sans"/>
              </a:defRPr>
            </a:pPr>
            <a:r>
              <a:rPr sz="1875" b="0">
                <a:solidFill>
                  <a:srgbClr val="79656C"/>
                </a:solidFill>
                <a:latin typeface="DejaVu Sans"/>
                <a:ea typeface="DejaVu Sans"/>
                <a:cs typeface="DejaVu Sans"/>
              </a:rPr>
              <a:t>Months to fund the same $700 goal</a:t>
            </a:r>
          </a:p>
        </p:txBody>
      </p:sp>
      <p:graphicFrame>
        <p:nvGraphicFramePr>
          <p:cNvPr id="12" name="Chart"/>
          <p:cNvGraphicFramePr/>
          <p:nvPr/>
        </p:nvGraphicFramePr>
        <p:xfrm>
          <a:off xmlns:a="http://schemas.openxmlformats.org/drawingml/2006/main" x="647700" y="2228850"/>
          <a:ext xmlns:a="http://schemas.openxmlformats.org/drawingml/2006/main" cx="7762875" cy="3333750"/>
        </p:xfrm>
        <a:graphic xmlns:a="http://schemas.openxmlformats.org/drawingml/2006/main">
          <a:graphicData uri="http://schemas.openxmlformats.org/drawingml/2006/chart">
            <c:chart xmlns:r="http://schemas.openxmlformats.org/officeDocument/2006/relationships" xmlns:c="http://schemas.openxmlformats.org/drawingml/2006/chart" r:id="R6a32c37786e14f40"/>
          </a:graphicData>
        </a:graphic>
      </p:graphicFrame>
      <p:sp>
        <p:nvSpPr>
          <p:cNvPr id="5" name="">
            <a:extLst xmlns:a="http://schemas.openxmlformats.org/drawingml/2006/main">
              <a:ext uri="{FF2B5EF4-FFF2-40B4-BE49-F238E27FC236}">
                <a16:creationId xmlns:a16="http://schemas.microsoft.com/office/drawing/2014/main" id="{CB46E6DC-AB1E-4F50-88CE-466287DA6E4B}"/>
              </a:ext>
            </a:extLst>
          </p:cNvPr>
          <p:cNvSpPr>
            <a:spLocks xmlns:a="http://schemas.openxmlformats.org/drawingml/2006/main" noGrp="1"/>
          </p:cNvSpPr>
          <p:nvPr/>
        </p:nvSpPr>
        <p:spPr>
          <a:xfrm xmlns:a="http://schemas.openxmlformats.org/drawingml/2006/main">
            <a:off x="8648700" y="28003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861F41"/>
                </a:solidFill>
                <a:latin typeface="DejaVu Sans Mono"/>
                <a:ea typeface="DejaVu Sans Mono"/>
                <a:cs typeface="DejaVu Sans Mono"/>
              </a:defRPr>
            </a:pPr>
            <a:r>
              <a:rPr sz="3525" b="1">
                <a:solidFill>
                  <a:srgbClr val="861F41"/>
                </a:solidFill>
                <a:latin typeface="DejaVu Sans Mono"/>
                <a:ea typeface="DejaVu Sans Mono"/>
                <a:cs typeface="DejaVu Sans Mono"/>
              </a:rPr>
              <a:t>2 months</a:t>
            </a:r>
          </a:p>
        </p:txBody>
      </p:sp>
      <p:sp>
        <p:nvSpPr>
          <p:cNvPr id="6" name="">
            <a:extLst xmlns:a="http://schemas.openxmlformats.org/drawingml/2006/main">
              <a:ext uri="{FF2B5EF4-FFF2-40B4-BE49-F238E27FC236}">
                <a16:creationId xmlns:a16="http://schemas.microsoft.com/office/drawing/2014/main" id="{86EFE0AC-B5C3-4D90-858A-5FBCA995A323}"/>
              </a:ext>
            </a:extLst>
          </p:cNvPr>
          <p:cNvSpPr>
            <a:spLocks xmlns:a="http://schemas.openxmlformats.org/drawingml/2006/main" noGrp="1"/>
          </p:cNvSpPr>
          <p:nvPr/>
        </p:nvSpPr>
        <p:spPr>
          <a:xfrm xmlns:a="http://schemas.openxmlformats.org/drawingml/2006/main">
            <a:off x="8686800" y="3648075"/>
            <a:ext cx="280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51923"/>
                </a:solidFill>
                <a:latin typeface="DejaVu Sans"/>
                <a:ea typeface="DejaVu Sans"/>
                <a:cs typeface="DejaVu Sans"/>
              </a:defRPr>
            </a:pPr>
            <a:r>
              <a:rPr sz="2025" b="1">
                <a:solidFill>
                  <a:srgbClr val="351923"/>
                </a:solidFill>
                <a:latin typeface="DejaVu Sans"/>
                <a:ea typeface="DejaVu Sans"/>
                <a:cs typeface="DejaVu Sans"/>
              </a:rPr>
              <a:t>recovered with</a:t>
            </a:r>
          </a:p>
          <a:p xmlns:a="http://schemas.openxmlformats.org/drawingml/2006/main">
            <a:pPr>
              <a:defRPr sz="2025" b="1">
                <a:solidFill>
                  <a:srgbClr val="351923"/>
                </a:solidFill>
                <a:latin typeface="DejaVu Sans"/>
                <a:ea typeface="DejaVu Sans"/>
                <a:cs typeface="DejaVu Sans"/>
              </a:defRPr>
            </a:pPr>
            <a:r>
              <a:rPr sz="2025" b="1">
                <a:solidFill>
                  <a:srgbClr val="351923"/>
                </a:solidFill>
                <a:latin typeface="DejaVu Sans"/>
                <a:ea typeface="DejaVu Sans"/>
                <a:cs typeface="DejaVu Sans"/>
              </a:rPr>
              <a:t>refurbished</a:t>
            </a:r>
          </a:p>
        </p:txBody>
      </p:sp>
      <p:sp>
        <p:nvSpPr>
          <p:cNvPr id="7" name="">
            <a:extLst xmlns:a="http://schemas.openxmlformats.org/drawingml/2006/main">
              <a:ext uri="{FF2B5EF4-FFF2-40B4-BE49-F238E27FC236}">
                <a16:creationId xmlns:a16="http://schemas.microsoft.com/office/drawing/2014/main" id="{6CCD9520-C31D-46C0-AED6-965A8A5A644B}"/>
              </a:ext>
            </a:extLst>
          </p:cNvPr>
          <p:cNvSpPr>
            <a:spLocks xmlns:a="http://schemas.openxmlformats.org/drawingml/2006/main" noGrp="1"/>
          </p:cNvSpPr>
          <p:nvPr/>
        </p:nvSpPr>
        <p:spPr>
          <a:xfrm xmlns:a="http://schemas.openxmlformats.org/drawingml/2006/main">
            <a:off x="8686800" y="4591050"/>
            <a:ext cx="2809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656C"/>
                </a:solidFill>
                <a:latin typeface="DejaVu Sans"/>
                <a:ea typeface="DejaVu Sans"/>
                <a:cs typeface="DejaVu Sans"/>
              </a:defRPr>
            </a:pPr>
            <a:r>
              <a:rPr sz="1725" b="0">
                <a:solidFill>
                  <a:srgbClr val="79656C"/>
                </a:solidFill>
                <a:latin typeface="DejaVu Sans"/>
                <a:ea typeface="DejaVu Sans"/>
                <a:cs typeface="DejaVu Sans"/>
              </a:rPr>
              <a:t>compared with</a:t>
            </a:r>
          </a:p>
          <a:p xmlns:a="http://schemas.openxmlformats.org/drawingml/2006/main">
            <a:pPr>
              <a:defRPr sz="1725" b="0">
                <a:solidFill>
                  <a:srgbClr val="79656C"/>
                </a:solidFill>
                <a:latin typeface="DejaVu Sans"/>
                <a:ea typeface="DejaVu Sans"/>
                <a:cs typeface="DejaVu Sans"/>
              </a:defRPr>
            </a:pPr>
            <a:r>
              <a:rPr sz="1725" b="0">
                <a:solidFill>
                  <a:srgbClr val="79656C"/>
                </a:solidFill>
                <a:latin typeface="DejaVu Sans"/>
                <a:ea typeface="DejaVu Sans"/>
                <a:cs typeface="DejaVu Sans"/>
              </a:rPr>
              <a:t>buying new</a:t>
            </a:r>
          </a:p>
        </p:txBody>
      </p:sp>
      <p:sp>
        <p:nvSpPr>
          <p:cNvPr id="8" name="">
            <a:extLst xmlns:a="http://schemas.openxmlformats.org/drawingml/2006/main">
              <a:ext uri="{FF2B5EF4-FFF2-40B4-BE49-F238E27FC236}">
                <a16:creationId xmlns:a16="http://schemas.microsoft.com/office/drawing/2014/main" id="{A000C6D8-A732-4F09-87EB-5FE18E527848}"/>
              </a:ext>
            </a:extLst>
          </p:cNvPr>
          <p:cNvSpPr>
            <a:spLocks xmlns:a="http://schemas.openxmlformats.org/drawingml/2006/main" noGrp="1"/>
          </p:cNvSpPr>
          <p:nvPr/>
        </p:nvSpPr>
        <p:spPr>
          <a:xfrm xmlns:a="http://schemas.openxmlformats.org/drawingml/2006/main">
            <a:off x="666750" y="58102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79656C"/>
                </a:solidFill>
                <a:latin typeface="DejaVu Sans"/>
                <a:ea typeface="DejaVu Sans"/>
                <a:cs typeface="DejaVu Sans"/>
              </a:defRPr>
            </a:pPr>
            <a:r>
              <a:rPr sz="1350" b="0">
                <a:solidFill>
                  <a:srgbClr val="79656C"/>
                </a:solidFill>
                <a:latin typeface="DejaVu Sans"/>
                <a:ea typeface="DejaVu Sans"/>
                <a:cs typeface="DejaVu Sans"/>
              </a:rPr>
              <a:t>Sample projection. $210 monthly surplus restores the $800 reserve first.</a:t>
            </a:r>
          </a:p>
          <a:p xmlns:a="http://schemas.openxmlformats.org/drawingml/2006/main">
            <a:pPr>
              <a:defRPr sz="1350" b="0">
                <a:solidFill>
                  <a:srgbClr val="79656C"/>
                </a:solidFill>
                <a:latin typeface="DejaVu Sans"/>
                <a:ea typeface="DejaVu Sans"/>
                <a:cs typeface="DejaVu Sans"/>
              </a:defRPr>
            </a:pPr>
            <a:r>
              <a:rPr sz="1350" b="0">
                <a:solidFill>
                  <a:srgbClr val="79656C"/>
                </a:solidFill>
                <a:latin typeface="DejaVu Sans"/>
                <a:ea typeface="DejaVu Sans"/>
                <a:cs typeface="DejaVu Sans"/>
              </a:rPr>
              <a:t>Repair assumes a successful $180 fix. Goal funds remain part of total cash.</a:t>
            </a:r>
          </a:p>
        </p:txBody>
      </p:sp>
    </p:spTree>
    <p:extLst>
      <p:ext uri="{BB962C8B-B14F-4D97-AF65-F5344CB8AC3E}">
        <p14:creationId xmlns:p14="http://schemas.microsoft.com/office/powerpoint/2010/main" val="1895967943"/>
      </p:ext>
    </p:extLst>
  </p:cSld>
</p:sld>
</file>

<file path=ppt/slides/slide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AA9699-269D-491B-8ECD-4295042B17A4}"/>
              </a:ext>
            </a:extLst>
          </p:cNvPr>
          <p:cNvSpPr>
            <a:spLocks xmlns:a="http://schemas.openxmlformats.org/drawingml/2006/main" noGrp="1"/>
          </p:cNvSpPr>
          <p:nvPr/>
        </p:nvSpPr>
        <p:spPr>
          <a:xfrm xmlns:a="http://schemas.openxmlformats.org/drawingml/2006/main">
            <a:off x="647700" y="53340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861F41"/>
                </a:solidFill>
                <a:latin typeface="DejaVu Sans Mono"/>
                <a:ea typeface="DejaVu Sans Mono"/>
                <a:cs typeface="DejaVu Sans Mono"/>
              </a:defRPr>
            </a:pPr>
            <a:r>
              <a:rPr sz="3450" b="1">
                <a:solidFill>
                  <a:srgbClr val="861F41"/>
                </a:solidFill>
                <a:latin typeface="DejaVu Sans Mono"/>
                <a:ea typeface="DejaVu Sans Mono"/>
                <a:cs typeface="DejaVu Sans Mono"/>
              </a:rPr>
              <a:t>Banking data, a game you can trust</a:t>
            </a:r>
          </a:p>
        </p:txBody>
      </p:sp>
      <p:sp>
        <p:nvSpPr>
          <p:cNvPr id="2" name="">
            <a:extLst xmlns:a="http://schemas.openxmlformats.org/drawingml/2006/main">
              <a:ext uri="{FF2B5EF4-FFF2-40B4-BE49-F238E27FC236}">
                <a16:creationId xmlns:a16="http://schemas.microsoft.com/office/drawing/2014/main" id="{C8FA8AD5-48DC-4897-9290-2AECA1CD054E}"/>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79656C"/>
                </a:solidFill>
                <a:latin typeface="DejaVu Sans Mono"/>
                <a:ea typeface="DejaVu Sans Mono"/>
                <a:cs typeface="DejaVu Sans Mono"/>
              </a:defRPr>
            </a:pPr>
            <a:r>
              <a:rPr sz="1050" b="0">
                <a:solidFill>
                  <a:srgbClr val="79656C"/>
                </a:solidFill>
                <a:latin typeface="DejaVu Sans Mono"/>
                <a:ea typeface="DejaVu Sans Mono"/>
                <a:cs typeface="DejaVu Sans Mono"/>
              </a:rPr>
              <a:t>HOKIGOTCHI   /   06</a:t>
            </a:r>
          </a:p>
        </p:txBody>
      </p:sp>
      <p:sp>
        <p:nvSpPr>
          <p:cNvPr id="3" name="">
            <a:extLst xmlns:a="http://schemas.openxmlformats.org/drawingml/2006/main">
              <a:ext uri="{FF2B5EF4-FFF2-40B4-BE49-F238E27FC236}">
                <a16:creationId xmlns:a16="http://schemas.microsoft.com/office/drawing/2014/main" id="{E79D8CA3-D6B7-41AD-AFD6-1E1F6CE500EF}"/>
              </a:ext>
            </a:extLst>
          </p:cNvPr>
          <p:cNvSpPr>
            <a:spLocks xmlns:a="http://schemas.openxmlformats.org/drawingml/2006/main" noGrp="1"/>
          </p:cNvSpPr>
          <p:nvPr/>
        </p:nvSpPr>
        <p:spPr>
          <a:xfrm xmlns:a="http://schemas.openxmlformats.org/drawingml/2006/main">
            <a:off x="666750" y="178117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861F41"/>
                </a:solidFill>
                <a:latin typeface="DejaVu Sans Mono"/>
                <a:ea typeface="DejaVu Sans Mono"/>
                <a:cs typeface="DejaVu Sans Mono"/>
              </a:defRPr>
            </a:pPr>
            <a:r>
              <a:rPr sz="2175" b="1">
                <a:solidFill>
                  <a:srgbClr val="861F41"/>
                </a:solidFill>
                <a:latin typeface="DejaVu Sans Mono"/>
                <a:ea typeface="DejaVu Sans Mono"/>
                <a:cs typeface="DejaVu Sans Mono"/>
              </a:rPr>
              <a:t>Capital One Nessie</a:t>
            </a:r>
          </a:p>
        </p:txBody>
      </p:sp>
      <p:sp>
        <p:nvSpPr>
          <p:cNvPr id="4" name="">
            <a:extLst xmlns:a="http://schemas.openxmlformats.org/drawingml/2006/main">
              <a:ext uri="{FF2B5EF4-FFF2-40B4-BE49-F238E27FC236}">
                <a16:creationId xmlns:a16="http://schemas.microsoft.com/office/drawing/2014/main" id="{DE53400D-38B3-40AC-8AD7-3291F1EAEFAF}"/>
              </a:ext>
            </a:extLst>
          </p:cNvPr>
          <p:cNvSpPr>
            <a:spLocks xmlns:a="http://schemas.openxmlformats.org/drawingml/2006/main" noGrp="1"/>
          </p:cNvSpPr>
          <p:nvPr/>
        </p:nvSpPr>
        <p:spPr>
          <a:xfrm xmlns:a="http://schemas.openxmlformats.org/drawingml/2006/main">
            <a:off x="4953000" y="1781175"/>
            <a:ext cx="6429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Simulated checking and savings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for banking practice.</a:t>
            </a:r>
          </a:p>
        </p:txBody>
      </p:sp>
      <p:sp>
        <p:nvSpPr>
          <p:cNvPr id="5" name="">
            <a:extLst xmlns:a="http://schemas.openxmlformats.org/drawingml/2006/main">
              <a:ext uri="{FF2B5EF4-FFF2-40B4-BE49-F238E27FC236}">
                <a16:creationId xmlns:a16="http://schemas.microsoft.com/office/drawing/2014/main" id="{BE9A9933-9F0A-4A56-850E-C7FBE6399F79}"/>
              </a:ext>
            </a:extLst>
          </p:cNvPr>
          <p:cNvSpPr>
            <a:spLocks xmlns:a="http://schemas.openxmlformats.org/drawingml/2006/main" noGrp="1"/>
          </p:cNvSpPr>
          <p:nvPr/>
        </p:nvSpPr>
        <p:spPr>
          <a:xfrm xmlns:a="http://schemas.openxmlformats.org/drawingml/2006/main">
            <a:off x="666750" y="303847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861F41"/>
                </a:solidFill>
                <a:latin typeface="DejaVu Sans Mono"/>
                <a:ea typeface="DejaVu Sans Mono"/>
                <a:cs typeface="DejaVu Sans Mono"/>
              </a:defRPr>
            </a:pPr>
            <a:r>
              <a:rPr sz="2175" b="1">
                <a:solidFill>
                  <a:srgbClr val="861F41"/>
                </a:solidFill>
                <a:latin typeface="DejaVu Sans Mono"/>
                <a:ea typeface="DejaVu Sans Mono"/>
                <a:cs typeface="DejaVu Sans Mono"/>
              </a:rPr>
              <a:t>Next.js + TypeScript</a:t>
            </a:r>
          </a:p>
        </p:txBody>
      </p:sp>
      <p:sp>
        <p:nvSpPr>
          <p:cNvPr id="6" name="">
            <a:extLst xmlns:a="http://schemas.openxmlformats.org/drawingml/2006/main">
              <a:ext uri="{FF2B5EF4-FFF2-40B4-BE49-F238E27FC236}">
                <a16:creationId xmlns:a16="http://schemas.microsoft.com/office/drawing/2014/main" id="{1B953996-F148-4BB9-AF45-D9AA8E1E52BD}"/>
              </a:ext>
            </a:extLst>
          </p:cNvPr>
          <p:cNvSpPr>
            <a:spLocks xmlns:a="http://schemas.openxmlformats.org/drawingml/2006/main" noGrp="1"/>
          </p:cNvSpPr>
          <p:nvPr/>
        </p:nvSpPr>
        <p:spPr>
          <a:xfrm xmlns:a="http://schemas.openxmlformats.org/drawingml/2006/main">
            <a:off x="4953000" y="3038475"/>
            <a:ext cx="6429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Budget calculations, game rules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and the Chaos simulator.</a:t>
            </a:r>
          </a:p>
        </p:txBody>
      </p:sp>
      <p:sp>
        <p:nvSpPr>
          <p:cNvPr id="7" name="">
            <a:extLst xmlns:a="http://schemas.openxmlformats.org/drawingml/2006/main">
              <a:ext uri="{FF2B5EF4-FFF2-40B4-BE49-F238E27FC236}">
                <a16:creationId xmlns:a16="http://schemas.microsoft.com/office/drawing/2014/main" id="{3834D807-65DD-4C37-9C43-0A9979D3C8E4}"/>
              </a:ext>
            </a:extLst>
          </p:cNvPr>
          <p:cNvSpPr>
            <a:spLocks xmlns:a="http://schemas.openxmlformats.org/drawingml/2006/main" noGrp="1"/>
          </p:cNvSpPr>
          <p:nvPr/>
        </p:nvSpPr>
        <p:spPr>
          <a:xfrm xmlns:a="http://schemas.openxmlformats.org/drawingml/2006/main">
            <a:off x="666750" y="429577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861F41"/>
                </a:solidFill>
                <a:latin typeface="DejaVu Sans Mono"/>
                <a:ea typeface="DejaVu Sans Mono"/>
                <a:cs typeface="DejaVu Sans Mono"/>
              </a:defRPr>
            </a:pPr>
            <a:r>
              <a:rPr sz="2175" b="1">
                <a:solidFill>
                  <a:srgbClr val="861F41"/>
                </a:solidFill>
                <a:latin typeface="DejaVu Sans Mono"/>
                <a:ea typeface="DejaVu Sans Mono"/>
                <a:cs typeface="DejaVu Sans Mono"/>
              </a:rPr>
              <a:t>Supabase</a:t>
            </a:r>
          </a:p>
        </p:txBody>
      </p:sp>
      <p:sp>
        <p:nvSpPr>
          <p:cNvPr id="8" name="">
            <a:extLst xmlns:a="http://schemas.openxmlformats.org/drawingml/2006/main">
              <a:ext uri="{FF2B5EF4-FFF2-40B4-BE49-F238E27FC236}">
                <a16:creationId xmlns:a16="http://schemas.microsoft.com/office/drawing/2014/main" id="{2F8CE8CA-C9F5-4241-81C6-72F52E724470}"/>
              </a:ext>
            </a:extLst>
          </p:cNvPr>
          <p:cNvSpPr>
            <a:spLocks xmlns:a="http://schemas.openxmlformats.org/drawingml/2006/main" noGrp="1"/>
          </p:cNvSpPr>
          <p:nvPr/>
        </p:nvSpPr>
        <p:spPr>
          <a:xfrm xmlns:a="http://schemas.openxmlformats.org/drawingml/2006/main">
            <a:off x="4953000" y="4295775"/>
            <a:ext cx="6429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Email-code accounts, private saves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and an opt-in weekly league.</a:t>
            </a:r>
          </a:p>
        </p:txBody>
      </p:sp>
      <p:sp>
        <p:nvSpPr>
          <p:cNvPr id="9" name="">
            <a:extLst xmlns:a="http://schemas.openxmlformats.org/drawingml/2006/main">
              <a:ext uri="{FF2B5EF4-FFF2-40B4-BE49-F238E27FC236}">
                <a16:creationId xmlns:a16="http://schemas.microsoft.com/office/drawing/2014/main" id="{A8489BF3-44B2-464B-AA39-22032DA58A43}"/>
              </a:ext>
            </a:extLst>
          </p:cNvPr>
          <p:cNvSpPr>
            <a:spLocks xmlns:a="http://schemas.openxmlformats.org/drawingml/2006/main" noGrp="1"/>
          </p:cNvSpPr>
          <p:nvPr/>
        </p:nvSpPr>
        <p:spPr>
          <a:xfrm xmlns:a="http://schemas.openxmlformats.org/drawingml/2006/main">
            <a:off x="666750" y="58483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656C"/>
                </a:solidFill>
                <a:latin typeface="DejaVu Sans"/>
                <a:ea typeface="DejaVu Sans"/>
                <a:cs typeface="DejaVu Sans"/>
              </a:defRPr>
            </a:pPr>
            <a:r>
              <a:rPr sz="1725" b="0">
                <a:solidFill>
                  <a:srgbClr val="79656C"/>
                </a:solidFill>
                <a:latin typeface="DejaVu Sans"/>
                <a:ea typeface="DejaVu Sans"/>
                <a:cs typeface="DejaVu Sans"/>
              </a:rPr>
              <a:t>Rankings show nicknames and habit scores. Financial details stay private.</a:t>
            </a:r>
          </a:p>
        </p:txBody>
      </p:sp>
    </p:spTree>
    <p:extLst>
      <p:ext uri="{BB962C8B-B14F-4D97-AF65-F5344CB8AC3E}">
        <p14:creationId xmlns:p14="http://schemas.microsoft.com/office/powerpoint/2010/main" val="1620768995"/>
      </p:ext>
    </p:extLst>
  </p:cSld>
</p:sld>
</file>

<file path=ppt/slides/slide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8C3355-CC3D-4BBC-9C45-677358E30964}"/>
              </a:ext>
            </a:extLst>
          </p:cNvPr>
          <p:cNvSpPr>
            <a:spLocks xmlns:a="http://schemas.openxmlformats.org/drawingml/2006/main" noGrp="1"/>
          </p:cNvSpPr>
          <p:nvPr/>
        </p:nvSpPr>
        <p:spPr>
          <a:xfrm xmlns:a="http://schemas.openxmlformats.org/drawingml/2006/main">
            <a:off x="647700" y="533400"/>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861F41"/>
                </a:solidFill>
                <a:latin typeface="DejaVu Sans Mono"/>
                <a:ea typeface="DejaVu Sans Mono"/>
                <a:cs typeface="DejaVu Sans Mono"/>
              </a:defRPr>
            </a:pPr>
            <a:r>
              <a:rPr sz="3450" b="1">
                <a:solidFill>
                  <a:srgbClr val="861F41"/>
                </a:solidFill>
                <a:latin typeface="DejaVu Sans Mono"/>
                <a:ea typeface="DejaVu Sans Mono"/>
                <a:cs typeface="DejaVu Sans Mono"/>
              </a:rPr>
              <a:t>The prototype and the next chapter</a:t>
            </a:r>
          </a:p>
        </p:txBody>
      </p:sp>
      <p:sp>
        <p:nvSpPr>
          <p:cNvPr id="2" name="">
            <a:extLst xmlns:a="http://schemas.openxmlformats.org/drawingml/2006/main">
              <a:ext uri="{FF2B5EF4-FFF2-40B4-BE49-F238E27FC236}">
                <a16:creationId xmlns:a16="http://schemas.microsoft.com/office/drawing/2014/main" id="{49359837-27B3-42C8-A11B-70517D58C8BF}"/>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79656C"/>
                </a:solidFill>
                <a:latin typeface="DejaVu Sans Mono"/>
                <a:ea typeface="DejaVu Sans Mono"/>
                <a:cs typeface="DejaVu Sans Mono"/>
              </a:defRPr>
            </a:pPr>
            <a:r>
              <a:rPr sz="1050" b="0">
                <a:solidFill>
                  <a:srgbClr val="79656C"/>
                </a:solidFill>
                <a:latin typeface="DejaVu Sans Mono"/>
                <a:ea typeface="DejaVu Sans Mono"/>
                <a:cs typeface="DejaVu Sans Mono"/>
              </a:rPr>
              <a:t>HOKIGOTCHI   /   07</a:t>
            </a:r>
          </a:p>
        </p:txBody>
      </p:sp>
      <p:sp>
        <p:nvSpPr>
          <p:cNvPr id="3" name="">
            <a:extLst xmlns:a="http://schemas.openxmlformats.org/drawingml/2006/main">
              <a:ext uri="{FF2B5EF4-FFF2-40B4-BE49-F238E27FC236}">
                <a16:creationId xmlns:a16="http://schemas.microsoft.com/office/drawing/2014/main" id="{2716A5F7-1BC7-482F-9527-6D83FF14175E}"/>
              </a:ext>
            </a:extLst>
          </p:cNvPr>
          <p:cNvSpPr>
            <a:spLocks xmlns:a="http://schemas.openxmlformats.org/drawingml/2006/main" noGrp="1"/>
          </p:cNvSpPr>
          <p:nvPr/>
        </p:nvSpPr>
        <p:spPr>
          <a:xfrm xmlns:a="http://schemas.openxmlformats.org/drawingml/2006/main">
            <a:off x="666750" y="16954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861F41"/>
                </a:solidFill>
                <a:latin typeface="DejaVu Sans Mono"/>
                <a:ea typeface="DejaVu Sans Mono"/>
                <a:cs typeface="DejaVu Sans Mono"/>
              </a:defRPr>
            </a:pPr>
            <a:r>
              <a:rPr sz="1725" b="1">
                <a:solidFill>
                  <a:srgbClr val="861F41"/>
                </a:solidFill>
                <a:latin typeface="DejaVu Sans Mono"/>
                <a:ea typeface="DejaVu Sans Mono"/>
                <a:cs typeface="DejaVu Sans Mono"/>
              </a:rPr>
              <a:t>WORKING PROTOTYPE</a:t>
            </a:r>
          </a:p>
        </p:txBody>
      </p:sp>
      <p:sp>
        <p:nvSpPr>
          <p:cNvPr id="4" name="">
            <a:extLst xmlns:a="http://schemas.openxmlformats.org/drawingml/2006/main">
              <a:ext uri="{FF2B5EF4-FFF2-40B4-BE49-F238E27FC236}">
                <a16:creationId xmlns:a16="http://schemas.microsoft.com/office/drawing/2014/main" id="{7D5B438D-CE6B-4E9D-9726-583750A2BE44}"/>
              </a:ext>
            </a:extLst>
          </p:cNvPr>
          <p:cNvSpPr>
            <a:spLocks xmlns:a="http://schemas.openxmlformats.org/drawingml/2006/main" noGrp="1"/>
          </p:cNvSpPr>
          <p:nvPr/>
        </p:nvSpPr>
        <p:spPr>
          <a:xfrm xmlns:a="http://schemas.openxmlformats.org/drawingml/2006/main">
            <a:off x="666750" y="2362200"/>
            <a:ext cx="5286375"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Weekly plans and expense logs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Savings milestones and Hoki growth</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Cloud accounts and opt-in rankings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Interactive Chaos encounter</a:t>
            </a:r>
          </a:p>
        </p:txBody>
      </p:sp>
      <p:sp>
        <p:nvSpPr>
          <p:cNvPr id="5" name="">
            <a:extLst xmlns:a="http://schemas.openxmlformats.org/drawingml/2006/main">
              <a:ext uri="{FF2B5EF4-FFF2-40B4-BE49-F238E27FC236}">
                <a16:creationId xmlns:a16="http://schemas.microsoft.com/office/drawing/2014/main" id="{FE64CCFC-8F6C-4CBD-A68E-D2E231A04F89}"/>
              </a:ext>
            </a:extLst>
          </p:cNvPr>
          <p:cNvSpPr>
            <a:spLocks xmlns:a="http://schemas.openxmlformats.org/drawingml/2006/main" noGrp="1"/>
          </p:cNvSpPr>
          <p:nvPr/>
        </p:nvSpPr>
        <p:spPr>
          <a:xfrm xmlns:a="http://schemas.openxmlformats.org/drawingml/2006/main">
            <a:off x="6667500" y="1695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E5751F"/>
                </a:solidFill>
                <a:latin typeface="DejaVu Sans Mono"/>
                <a:ea typeface="DejaVu Sans Mono"/>
                <a:cs typeface="DejaVu Sans Mono"/>
              </a:defRPr>
            </a:pPr>
            <a:r>
              <a:rPr sz="1725" b="1">
                <a:solidFill>
                  <a:srgbClr val="E5751F"/>
                </a:solidFill>
                <a:latin typeface="DejaVu Sans Mono"/>
                <a:ea typeface="DejaVu Sans Mono"/>
                <a:cs typeface="DejaVu Sans Mono"/>
              </a:rPr>
              <a:t>NEXT BUILD</a:t>
            </a:r>
          </a:p>
        </p:txBody>
      </p:sp>
      <p:sp>
        <p:nvSpPr>
          <p:cNvPr id="6" name="">
            <a:extLst xmlns:a="http://schemas.openxmlformats.org/drawingml/2006/main">
              <a:ext uri="{FF2B5EF4-FFF2-40B4-BE49-F238E27FC236}">
                <a16:creationId xmlns:a16="http://schemas.microsoft.com/office/drawing/2014/main" id="{37F5097F-B9C0-4DCF-BFB5-AB2F52D92CCC}"/>
              </a:ext>
            </a:extLst>
          </p:cNvPr>
          <p:cNvSpPr>
            <a:spLocks xmlns:a="http://schemas.openxmlformats.org/drawingml/2006/main" noGrp="1"/>
          </p:cNvSpPr>
          <p:nvPr/>
        </p:nvSpPr>
        <p:spPr>
          <a:xfrm xmlns:a="http://schemas.openxmlformats.org/drawingml/2006/main">
            <a:off x="6667500" y="2362200"/>
            <a:ext cx="4810125"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More banking activity feeds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Personalized scenario generation</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Campus reward partnerships</a:t>
            </a:r>
          </a:p>
          <a:p xmlns:a="http://schemas.openxmlformats.org/drawingml/2006/main">
            <a:pPr>
              <a:defRPr sz="2025" b="0">
                <a:solidFill>
                  <a:srgbClr val="351923"/>
                </a:solidFill>
                <a:latin typeface="DejaVu Sans"/>
                <a:ea typeface="DejaVu Sans"/>
                <a:cs typeface="DejaVu Sans"/>
              </a:defRPr>
            </a:pPr>
            <a:r>
              <a:rPr sz="2025" b="0">
                <a:solidFill>
                  <a:srgbClr val="351923"/>
                </a:solidFill>
                <a:latin typeface="DejaVu Sans"/>
                <a:ea typeface="DejaVu Sans"/>
                <a:cs typeface="DejaVu Sans"/>
              </a:rPr>
              <a:t>A broader student pilot</a:t>
            </a:r>
          </a:p>
        </p:txBody>
      </p:sp>
      <p:sp>
        <p:nvSpPr>
          <p:cNvPr id="7" name="">
            <a:extLst xmlns:a="http://schemas.openxmlformats.org/drawingml/2006/main">
              <a:ext uri="{FF2B5EF4-FFF2-40B4-BE49-F238E27FC236}">
                <a16:creationId xmlns:a16="http://schemas.microsoft.com/office/drawing/2014/main" id="{82DFA11B-4DFD-4E2C-A28F-EBC9275136B7}"/>
              </a:ext>
            </a:extLst>
          </p:cNvPr>
          <p:cNvSpPr>
            <a:spLocks xmlns:a="http://schemas.openxmlformats.org/drawingml/2006/main" noGrp="1"/>
          </p:cNvSpPr>
          <p:nvPr/>
        </p:nvSpPr>
        <p:spPr>
          <a:xfrm xmlns:a="http://schemas.openxmlformats.org/drawingml/2006/main">
            <a:off x="666750" y="5610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861F41"/>
                </a:solidFill>
                <a:latin typeface="DejaVu Sans"/>
                <a:ea typeface="DejaVu Sans"/>
                <a:cs typeface="DejaVu Sans"/>
              </a:defRPr>
            </a:pPr>
            <a:r>
              <a:rPr sz="1875" b="1">
                <a:solidFill>
                  <a:srgbClr val="861F41"/>
                </a:solidFill>
                <a:latin typeface="DejaVu Sans"/>
                <a:ea typeface="DejaVu Sans"/>
                <a:cs typeface="DejaVu Sans"/>
              </a:rPr>
              <a:t>Coupons, cashback and cash rewards remain previews.</a:t>
            </a:r>
          </a:p>
        </p:txBody>
      </p:sp>
    </p:spTree>
    <p:extLst>
      <p:ext uri="{BB962C8B-B14F-4D97-AF65-F5344CB8AC3E}">
        <p14:creationId xmlns:p14="http://schemas.microsoft.com/office/powerpoint/2010/main" val="1976903879"/>
      </p:ext>
    </p:extLst>
  </p:cSld>
</p:sld>
</file>

<file path=ppt/slides/slide8.xml><?xml version="1.0" encoding="utf-8"?>
<p:sld xmlns:p="http://schemas.openxmlformats.org/presentationml/2006/main">
  <p:cSld>
    <p:bg>
      <p:bgPr>
        <a:solidFill xmlns:a="http://schemas.openxmlformats.org/drawingml/2006/main">
          <a:srgbClr val="861F4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EC26AA-EA78-4407-A11F-E0FA701A967F}"/>
              </a:ext>
            </a:extLst>
          </p:cNvPr>
          <p:cNvSpPr>
            <a:spLocks xmlns:a="http://schemas.openxmlformats.org/drawingml/2006/main" noGrp="1"/>
          </p:cNvSpPr>
          <p:nvPr/>
        </p:nvSpPr>
        <p:spPr>
          <a:xfrm xmlns:a="http://schemas.openxmlformats.org/drawingml/2006/main">
            <a:off x="6477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D7AC"/>
                </a:solidFill>
                <a:latin typeface="DejaVu Sans Mono"/>
                <a:ea typeface="DejaVu Sans Mono"/>
                <a:cs typeface="DejaVu Sans Mono"/>
              </a:defRPr>
            </a:pPr>
            <a:r>
              <a:rPr sz="1050" b="0">
                <a:solidFill>
                  <a:srgbClr val="FFD7AC"/>
                </a:solidFill>
                <a:latin typeface="DejaVu Sans Mono"/>
                <a:ea typeface="DejaVu Sans Mono"/>
                <a:cs typeface="DejaVu Sans Mono"/>
              </a:rPr>
              <a:t>HOKIGOTCHI   /   08</a:t>
            </a:r>
          </a:p>
        </p:txBody>
      </p:sp>
      <p:sp>
        <p:nvSpPr>
          <p:cNvPr id="2" name="">
            <a:extLst xmlns:a="http://schemas.openxmlformats.org/drawingml/2006/main">
              <a:ext uri="{FF2B5EF4-FFF2-40B4-BE49-F238E27FC236}">
                <a16:creationId xmlns:a16="http://schemas.microsoft.com/office/drawing/2014/main" id="{3E2D25F5-6EE8-4988-8747-D0D85D2E8A17}"/>
              </a:ext>
            </a:extLst>
          </p:cNvPr>
          <p:cNvSpPr>
            <a:spLocks xmlns:a="http://schemas.openxmlformats.org/drawingml/2006/main" noGrp="1"/>
          </p:cNvSpPr>
          <p:nvPr/>
        </p:nvSpPr>
        <p:spPr>
          <a:xfrm xmlns:a="http://schemas.openxmlformats.org/drawingml/2006/main">
            <a:off x="666750" y="952500"/>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FFDF8"/>
                </a:solidFill>
                <a:latin typeface="DejaVu Sans Mono"/>
                <a:ea typeface="DejaVu Sans Mono"/>
                <a:cs typeface="DejaVu Sans Mono"/>
              </a:defRPr>
            </a:pPr>
            <a:r>
              <a:rPr sz="5250" b="1">
                <a:solidFill>
                  <a:srgbClr val="FFFDF8"/>
                </a:solidFill>
                <a:latin typeface="DejaVu Sans Mono"/>
                <a:ea typeface="DejaVu Sans Mono"/>
                <a:cs typeface="DejaVu Sans Mono"/>
              </a:rPr>
              <a:t>Hokigotchi</a:t>
            </a:r>
          </a:p>
        </p:txBody>
      </p:sp>
      <p:sp>
        <p:nvSpPr>
          <p:cNvPr id="3" name="">
            <a:extLst xmlns:a="http://schemas.openxmlformats.org/drawingml/2006/main">
              <a:ext uri="{FF2B5EF4-FFF2-40B4-BE49-F238E27FC236}">
                <a16:creationId xmlns:a16="http://schemas.microsoft.com/office/drawing/2014/main" id="{A004895A-885E-41EB-8E49-915629BA27CC}"/>
              </a:ext>
            </a:extLst>
          </p:cNvPr>
          <p:cNvSpPr>
            <a:spLocks xmlns:a="http://schemas.openxmlformats.org/drawingml/2006/main" noGrp="1"/>
          </p:cNvSpPr>
          <p:nvPr/>
        </p:nvSpPr>
        <p:spPr>
          <a:xfrm xmlns:a="http://schemas.openxmlformats.org/drawingml/2006/main">
            <a:off x="704850" y="2352675"/>
            <a:ext cx="790575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FFD7AC"/>
                </a:solidFill>
                <a:latin typeface="DejaVu Sans Mono"/>
                <a:ea typeface="DejaVu Sans Mono"/>
                <a:cs typeface="DejaVu Sans Mono"/>
              </a:defRPr>
            </a:pPr>
            <a:r>
              <a:rPr sz="4275" b="1">
                <a:solidFill>
                  <a:srgbClr val="FFD7AC"/>
                </a:solidFill>
                <a:latin typeface="DejaVu Sans Mono"/>
                <a:ea typeface="DejaVu Sans Mono"/>
                <a:cs typeface="DejaVu Sans Mono"/>
              </a:rPr>
              <a:t>A money habit</a:t>
            </a:r>
          </a:p>
          <a:p xmlns:a="http://schemas.openxmlformats.org/drawingml/2006/main">
            <a:pPr>
              <a:defRPr sz="4275" b="1">
                <a:solidFill>
                  <a:srgbClr val="FFD7AC"/>
                </a:solidFill>
                <a:latin typeface="DejaVu Sans Mono"/>
                <a:ea typeface="DejaVu Sans Mono"/>
                <a:cs typeface="DejaVu Sans Mono"/>
              </a:defRPr>
            </a:pPr>
            <a:r>
              <a:rPr sz="4275" b="1">
                <a:solidFill>
                  <a:srgbClr val="FFD7AC"/>
                </a:solidFill>
                <a:latin typeface="DejaVu Sans Mono"/>
                <a:ea typeface="DejaVu Sans Mono"/>
                <a:cs typeface="DejaVu Sans Mono"/>
              </a:rPr>
              <a:t>you want to</a:t>
            </a:r>
          </a:p>
          <a:p xmlns:a="http://schemas.openxmlformats.org/drawingml/2006/main">
            <a:pPr>
              <a:defRPr sz="4275" b="1">
                <a:solidFill>
                  <a:srgbClr val="FFD7AC"/>
                </a:solidFill>
                <a:latin typeface="DejaVu Sans Mono"/>
                <a:ea typeface="DejaVu Sans Mono"/>
                <a:cs typeface="DejaVu Sans Mono"/>
              </a:defRPr>
            </a:pPr>
            <a:r>
              <a:rPr sz="4275" b="1">
                <a:solidFill>
                  <a:srgbClr val="FFD7AC"/>
                </a:solidFill>
                <a:latin typeface="DejaVu Sans Mono"/>
                <a:ea typeface="DejaVu Sans Mono"/>
                <a:cs typeface="DejaVu Sans Mono"/>
              </a:rPr>
              <a:t>come back to</a:t>
            </a:r>
          </a:p>
        </p:txBody>
      </p:sp>
      <p:sp>
        <p:nvSpPr>
          <p:cNvPr id="4" name="">
            <a:extLst xmlns:a="http://schemas.openxmlformats.org/drawingml/2006/main">
              <a:ext uri="{FF2B5EF4-FFF2-40B4-BE49-F238E27FC236}">
                <a16:creationId xmlns:a16="http://schemas.microsoft.com/office/drawing/2014/main" id="{07052998-E0D4-439F-B7ED-2A7B52086066}"/>
              </a:ext>
            </a:extLst>
          </p:cNvPr>
          <p:cNvSpPr>
            <a:spLocks xmlns:a="http://schemas.openxmlformats.org/drawingml/2006/main" noGrp="1"/>
          </p:cNvSpPr>
          <p:nvPr/>
        </p:nvSpPr>
        <p:spPr>
          <a:xfrm xmlns:a="http://schemas.openxmlformats.org/drawingml/2006/main">
            <a:off x="723900" y="5381625"/>
            <a:ext cx="9144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DF8"/>
                </a:solidFill>
                <a:latin typeface="DejaVu Sans"/>
                <a:ea typeface="DejaVu Sans"/>
                <a:cs typeface="DejaVu Sans"/>
              </a:defRPr>
            </a:pPr>
            <a:r>
              <a:rPr sz="2250" b="0">
                <a:solidFill>
                  <a:srgbClr val="FFFDF8"/>
                </a:solidFill>
                <a:latin typeface="DejaVu Sans"/>
                <a:ea typeface="DejaVu Sans"/>
                <a:cs typeface="DejaVu Sans"/>
              </a:rPr>
              <a:t>Plan your week. Grow your Hoki.</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a806a18d54428a"/>
          <a:stretch xmlns:a="http://schemas.openxmlformats.org/drawingml/2006/main"/>
        </p:blipFill>
        <p:spPr>
          <a:xfrm xmlns:a="http://schemas.openxmlformats.org/drawingml/2006/main">
            <a:off x="8705850" y="2790825"/>
            <a:ext cx="2857500" cy="2857500"/>
          </a:xfrm>
          <a:prstGeom xmlns:a="http://schemas.openxmlformats.org/drawingml/2006/main" prst="rect">
            <a:avLst/>
          </a:prstGeom>
        </p:spPr>
      </p:pic>
    </p:spTree>
    <p:extLst>
      <p:ext uri="{BB962C8B-B14F-4D97-AF65-F5344CB8AC3E}">
        <p14:creationId xmlns:p14="http://schemas.microsoft.com/office/powerpoint/2010/main" val="402091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2026-09-20T18:49:48.0390000Z</dcterms:created>
  <dcterms:modified xsi:type="dcterms:W3CDTF">2026-09-20T18:49:48.0390000Z</dcterms:modified>
</coreProperties>
</file>